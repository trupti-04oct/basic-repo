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22f9353f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22f9353f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22f9353f0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22f9353f0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22f9353f0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22f9353f0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22f9353f0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22f9353f0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22f9353f0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22f9353f0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22f9353f0f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22f9353f0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22f9353f0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22f9353f0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22f9353f0f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22f9353f0f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22f9353f0f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22f9353f0f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22f9353f0f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22f9353f0f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22f9353f0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22f9353f0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22f9353f0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22f9353f0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2f9353f0f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22f9353f0f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28b0395f0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28b0395f0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28b0395f0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28b0395f0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28b0395f0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28b0395f0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28b0395f0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28b0395f0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28b0395f0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28b0395f0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28b0395f0d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28b0395f0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phoenixnap.com/kb/what-is-git-bash" TargetMode="External"/><Relationship Id="rId4" Type="http://schemas.openxmlformats.org/officeDocument/2006/relationships/hyperlink" Target="https://phoenixnap.com/kb/use-nano-text-editor-commands-linux" TargetMode="External"/><Relationship Id="rId5" Type="http://schemas.openxmlformats.org/officeDocument/2006/relationships/hyperlink" Target="https://phoenixnap.com/kb/vim-commands-cheat-sheet" TargetMode="External"/><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phoenixnap.com/glossary/what-is-a-directory" TargetMode="Externa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ww.atlassian.com/git/tutorials/syncing/git-fetch" TargetMode="External"/><Relationship Id="rId4" Type="http://schemas.openxmlformats.org/officeDocument/2006/relationships/hyperlink" Target="https://www.atlassian.com/git/tutorials/using-branches/git-merge" TargetMode="External"/><Relationship Id="rId5"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github.com/Microsoft/Git-Credential-Manager-for-Windows" TargetMode="External"/><Relationship Id="rId4" Type="http://schemas.openxmlformats.org/officeDocument/2006/relationships/hyperlink" Target="https://gitcredentialstore.codeplex.com/" TargetMode="External"/><Relationship Id="rId5" Type="http://schemas.openxmlformats.org/officeDocument/2006/relationships/hyperlink" Target="https://git-scm.com/book/en/v2/Git-Tools-Credential-Storage" TargetMode="External"/><Relationship Id="rId6" Type="http://schemas.openxmlformats.org/officeDocument/2006/relationships/hyperlink" Target="https://dev.azure.com/" TargetMode="External"/><Relationship Id="rId7" Type="http://schemas.openxmlformats.org/officeDocument/2006/relationships/hyperlink" Target="http://microsoft.github.io/Git-Credential-Manager-for-Windows/Docs/Faq.html#q-i-thought-microsoft-was-maintaining-this-why-does-the-gcm-not-work-as-expected-with-tfs" TargetMode="External"/><Relationship Id="rId8"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phoenixnap.com/kb/symbolic-link-linux" TargetMode="External"/><Relationship Id="rId4" Type="http://schemas.openxmlformats.org/officeDocument/2006/relationships/hyperlink" Target="https://phoenixnap.com/glossary/filesystem" TargetMode="External"/><Relationship Id="rId5"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phoenixnap.com/glossary/what-is-root-access" TargetMode="External"/><Relationship Id="rId4" Type="http://schemas.openxmlformats.org/officeDocument/2006/relationships/hyperlink" Target="https://phoenixnap.com/glossary/web-browser-definition" TargetMode="External"/><Relationship Id="rId5" Type="http://schemas.openxmlformats.org/officeDocument/2006/relationships/hyperlink" Target="https://sourceforge.net/projects/git-osx-installer/files/git-2.33.0-intel-universal-mavericks.dmg/download?use_mirror=autoselect"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phoenixnap.com/kb/install-homebrew-on-mac" TargetMode="Externa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Installing GIT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On Windows and Mac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GIT Installation for Windows</a:t>
            </a:r>
            <a:endParaRPr/>
          </a:p>
        </p:txBody>
      </p:sp>
      <p:pic>
        <p:nvPicPr>
          <p:cNvPr id="61" name="Google Shape;61;p14"/>
          <p:cNvPicPr preferRelativeResize="0"/>
          <p:nvPr/>
        </p:nvPicPr>
        <p:blipFill>
          <a:blip r:embed="rId3">
            <a:alphaModFix/>
          </a:blip>
          <a:stretch>
            <a:fillRect/>
          </a:stretch>
        </p:blipFill>
        <p:spPr>
          <a:xfrm>
            <a:off x="714475" y="1170150"/>
            <a:ext cx="7622999" cy="3577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settings check for choice between 64/32 bit versions</a:t>
            </a:r>
            <a:endParaRPr/>
          </a:p>
        </p:txBody>
      </p:sp>
      <p:pic>
        <p:nvPicPr>
          <p:cNvPr id="67" name="Google Shape;67;p15"/>
          <p:cNvPicPr preferRelativeResize="0"/>
          <p:nvPr/>
        </p:nvPicPr>
        <p:blipFill>
          <a:blip r:embed="rId3">
            <a:alphaModFix/>
          </a:blip>
          <a:stretch>
            <a:fillRect/>
          </a:stretch>
        </p:blipFill>
        <p:spPr>
          <a:xfrm>
            <a:off x="2759225" y="1212525"/>
            <a:ext cx="6384774" cy="3715351"/>
          </a:xfrm>
          <a:prstGeom prst="rect">
            <a:avLst/>
          </a:prstGeom>
          <a:noFill/>
          <a:ln>
            <a:noFill/>
          </a:ln>
        </p:spPr>
      </p:pic>
      <p:sp>
        <p:nvSpPr>
          <p:cNvPr id="68" name="Google Shape;68;p15"/>
          <p:cNvSpPr txBox="1"/>
          <p:nvPr/>
        </p:nvSpPr>
        <p:spPr>
          <a:xfrm>
            <a:off x="510925" y="1562675"/>
            <a:ext cx="1993800" cy="2556000"/>
          </a:xfrm>
          <a:prstGeom prst="rect">
            <a:avLst/>
          </a:prstGeom>
          <a:noFill/>
          <a:ln>
            <a:noFill/>
          </a:ln>
        </p:spPr>
        <p:txBody>
          <a:bodyPr anchorCtr="0" anchor="t" bIns="91425" lIns="91425" spcFirstLastPara="1" rIns="91425" wrap="square" tIns="91425">
            <a:noAutofit/>
          </a:bodyPr>
          <a:lstStyle/>
          <a:p>
            <a:pPr indent="-247650" lvl="0" marL="171450" marR="0" rtl="0" algn="l">
              <a:spcBef>
                <a:spcPts val="0"/>
              </a:spcBef>
              <a:spcAft>
                <a:spcPts val="0"/>
              </a:spcAft>
              <a:buClr>
                <a:schemeClr val="dk2"/>
              </a:buClr>
              <a:buSzPts val="1200"/>
              <a:buFont typeface="Calibri"/>
              <a:buChar char="●"/>
            </a:pPr>
            <a:r>
              <a:rPr lang="en" sz="1200">
                <a:solidFill>
                  <a:schemeClr val="dk2"/>
                </a:solidFill>
                <a:latin typeface="Calibri"/>
                <a:ea typeface="Calibri"/>
                <a:cs typeface="Calibri"/>
                <a:sym typeface="Calibri"/>
              </a:rPr>
              <a:t>If system is 32 bit, a 64 bitsoftware wouldn’t work as desired</a:t>
            </a:r>
            <a:endParaRPr sz="1200">
              <a:solidFill>
                <a:schemeClr val="dk2"/>
              </a:solidFill>
              <a:latin typeface="Calibri"/>
              <a:ea typeface="Calibri"/>
              <a:cs typeface="Calibri"/>
              <a:sym typeface="Calibri"/>
            </a:endParaRPr>
          </a:p>
          <a:p>
            <a:pPr indent="-247650" lvl="0" marL="171450" marR="0" rtl="0" algn="l">
              <a:spcBef>
                <a:spcPts val="0"/>
              </a:spcBef>
              <a:spcAft>
                <a:spcPts val="0"/>
              </a:spcAft>
              <a:buClr>
                <a:schemeClr val="dk2"/>
              </a:buClr>
              <a:buSzPts val="1200"/>
              <a:buFont typeface="Calibri"/>
              <a:buChar char="●"/>
            </a:pPr>
            <a:r>
              <a:rPr lang="en" sz="1200">
                <a:solidFill>
                  <a:schemeClr val="dk2"/>
                </a:solidFill>
                <a:latin typeface="Calibri"/>
                <a:ea typeface="Calibri"/>
                <a:cs typeface="Calibri"/>
                <a:sym typeface="Calibri"/>
              </a:rPr>
              <a:t>Go to settings-&gt; system-&gt;about-&gt;system type to verify system architecture</a:t>
            </a:r>
            <a:endParaRPr sz="1200">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 license and installation path</a:t>
            </a:r>
            <a:endParaRPr/>
          </a:p>
        </p:txBody>
      </p:sp>
      <p:pic>
        <p:nvPicPr>
          <p:cNvPr id="74" name="Google Shape;74;p16"/>
          <p:cNvPicPr preferRelativeResize="0"/>
          <p:nvPr/>
        </p:nvPicPr>
        <p:blipFill>
          <a:blip r:embed="rId3">
            <a:alphaModFix/>
          </a:blip>
          <a:stretch>
            <a:fillRect/>
          </a:stretch>
        </p:blipFill>
        <p:spPr>
          <a:xfrm>
            <a:off x="311700" y="1298550"/>
            <a:ext cx="4217875" cy="3314667"/>
          </a:xfrm>
          <a:prstGeom prst="rect">
            <a:avLst/>
          </a:prstGeom>
          <a:noFill/>
          <a:ln>
            <a:noFill/>
          </a:ln>
        </p:spPr>
      </p:pic>
      <p:pic>
        <p:nvPicPr>
          <p:cNvPr id="75" name="Google Shape;75;p16"/>
          <p:cNvPicPr preferRelativeResize="0"/>
          <p:nvPr/>
        </p:nvPicPr>
        <p:blipFill>
          <a:blip r:embed="rId4">
            <a:alphaModFix/>
          </a:blip>
          <a:stretch>
            <a:fillRect/>
          </a:stretch>
        </p:blipFill>
        <p:spPr>
          <a:xfrm>
            <a:off x="4926125" y="1302814"/>
            <a:ext cx="4217875" cy="3306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Installation  Contd</a:t>
            </a:r>
            <a:endParaRPr/>
          </a:p>
        </p:txBody>
      </p:sp>
      <p:pic>
        <p:nvPicPr>
          <p:cNvPr id="81" name="Google Shape;81;p17"/>
          <p:cNvPicPr preferRelativeResize="0"/>
          <p:nvPr/>
        </p:nvPicPr>
        <p:blipFill>
          <a:blip r:embed="rId3">
            <a:alphaModFix/>
          </a:blip>
          <a:stretch>
            <a:fillRect/>
          </a:stretch>
        </p:blipFill>
        <p:spPr>
          <a:xfrm>
            <a:off x="428350" y="1652292"/>
            <a:ext cx="4037600" cy="3164833"/>
          </a:xfrm>
          <a:prstGeom prst="rect">
            <a:avLst/>
          </a:prstGeom>
          <a:noFill/>
          <a:ln>
            <a:noFill/>
          </a:ln>
        </p:spPr>
      </p:pic>
      <p:pic>
        <p:nvPicPr>
          <p:cNvPr id="82" name="Google Shape;82;p17"/>
          <p:cNvPicPr preferRelativeResize="0"/>
          <p:nvPr/>
        </p:nvPicPr>
        <p:blipFill>
          <a:blip r:embed="rId4">
            <a:alphaModFix/>
          </a:blip>
          <a:stretch>
            <a:fillRect/>
          </a:stretch>
        </p:blipFill>
        <p:spPr>
          <a:xfrm>
            <a:off x="4682175" y="1633238"/>
            <a:ext cx="4096750" cy="3202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Choosing Text Editor</a:t>
            </a:r>
            <a:endParaRPr/>
          </a:p>
        </p:txBody>
      </p:sp>
      <p:sp>
        <p:nvSpPr>
          <p:cNvPr id="88" name="Google Shape;88;p18"/>
          <p:cNvSpPr txBox="1"/>
          <p:nvPr>
            <p:ph idx="1" type="body"/>
          </p:nvPr>
        </p:nvSpPr>
        <p:spPr>
          <a:xfrm>
            <a:off x="311700" y="1366525"/>
            <a:ext cx="46533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400">
                <a:solidFill>
                  <a:srgbClr val="001D35"/>
                </a:solidFill>
                <a:highlight>
                  <a:srgbClr val="FFFFFF"/>
                </a:highlight>
                <a:latin typeface="Calibri"/>
                <a:ea typeface="Calibri"/>
                <a:cs typeface="Calibri"/>
                <a:sym typeface="Calibri"/>
              </a:rPr>
              <a:t>You need a text editor with Git because it's used for various tasks, including: writing commit messages, resolving conflicts, and editing configuration files</a:t>
            </a:r>
            <a:endParaRPr sz="1400">
              <a:solidFill>
                <a:schemeClr val="dk1"/>
              </a:solidFill>
              <a:latin typeface="Calibri"/>
              <a:ea typeface="Calibri"/>
              <a:cs typeface="Calibri"/>
              <a:sym typeface="Calibri"/>
            </a:endParaRPr>
          </a:p>
          <a:p>
            <a:pPr indent="0" lvl="0" marL="0" rtl="0" algn="l">
              <a:spcBef>
                <a:spcPts val="1200"/>
              </a:spcBef>
              <a:spcAft>
                <a:spcPts val="0"/>
              </a:spcAft>
              <a:buNone/>
            </a:pPr>
            <a:r>
              <a:rPr lang="en" sz="1400">
                <a:solidFill>
                  <a:schemeClr val="dk1"/>
                </a:solidFill>
                <a:latin typeface="Calibri"/>
                <a:ea typeface="Calibri"/>
                <a:cs typeface="Calibri"/>
                <a:sym typeface="Calibri"/>
              </a:rPr>
              <a:t>Select a text editor you want to use with Git. Use the drop-down menu to select Notepad++ (or whichever text editor you prefer) and click Next.</a:t>
            </a:r>
            <a:endParaRPr sz="1400">
              <a:solidFill>
                <a:schemeClr val="dk1"/>
              </a:solidFill>
              <a:latin typeface="Calibri"/>
              <a:ea typeface="Calibri"/>
              <a:cs typeface="Calibri"/>
              <a:sym typeface="Calibri"/>
            </a:endParaRPr>
          </a:p>
          <a:p>
            <a:pPr indent="0" lvl="0" marL="0" rtl="0" algn="l">
              <a:spcBef>
                <a:spcPts val="1200"/>
              </a:spcBef>
              <a:spcAft>
                <a:spcPts val="0"/>
              </a:spcAft>
              <a:buNone/>
            </a:pPr>
            <a:r>
              <a:rPr lang="en" sz="1400">
                <a:solidFill>
                  <a:schemeClr val="dk1"/>
                </a:solidFill>
                <a:latin typeface="Calibri"/>
                <a:ea typeface="Calibri"/>
                <a:cs typeface="Calibri"/>
                <a:sym typeface="Calibri"/>
              </a:rPr>
              <a:t>If you prefer to use a CLI text editor in </a:t>
            </a:r>
            <a:r>
              <a:rPr b="1" lang="en" sz="1400">
                <a:solidFill>
                  <a:srgbClr val="0A1D33"/>
                </a:solidFill>
                <a:uFill>
                  <a:noFill/>
                </a:uFill>
                <a:latin typeface="Calibri"/>
                <a:ea typeface="Calibri"/>
                <a:cs typeface="Calibri"/>
                <a:sym typeface="Calibri"/>
                <a:hlinkClick r:id="rId3">
                  <a:extLst>
                    <a:ext uri="{A12FA001-AC4F-418D-AE19-62706E023703}">
                      <ahyp:hlinkClr val="tx"/>
                    </a:ext>
                  </a:extLst>
                </a:hlinkClick>
              </a:rPr>
              <a:t>Git Bash</a:t>
            </a:r>
            <a:r>
              <a:rPr lang="en" sz="1400">
                <a:solidFill>
                  <a:schemeClr val="dk1"/>
                </a:solidFill>
                <a:latin typeface="Calibri"/>
                <a:ea typeface="Calibri"/>
                <a:cs typeface="Calibri"/>
                <a:sym typeface="Calibri"/>
              </a:rPr>
              <a:t>, select </a:t>
            </a:r>
            <a:r>
              <a:rPr b="1" lang="en" sz="1400">
                <a:solidFill>
                  <a:srgbClr val="0A1D33"/>
                </a:solidFill>
                <a:uFill>
                  <a:noFill/>
                </a:uFill>
                <a:latin typeface="Calibri"/>
                <a:ea typeface="Calibri"/>
                <a:cs typeface="Calibri"/>
                <a:sym typeface="Calibri"/>
                <a:hlinkClick r:id="rId4">
                  <a:extLst>
                    <a:ext uri="{A12FA001-AC4F-418D-AE19-62706E023703}">
                      <ahyp:hlinkClr val="tx"/>
                    </a:ext>
                  </a:extLst>
                </a:hlinkClick>
              </a:rPr>
              <a:t>nano</a:t>
            </a:r>
            <a:r>
              <a:rPr lang="en" sz="1400">
                <a:solidFill>
                  <a:schemeClr val="dk1"/>
                </a:solidFill>
                <a:latin typeface="Calibri"/>
                <a:ea typeface="Calibri"/>
                <a:cs typeface="Calibri"/>
                <a:sym typeface="Calibri"/>
              </a:rPr>
              <a:t> or </a:t>
            </a:r>
            <a:r>
              <a:rPr b="1" lang="en" sz="1400">
                <a:solidFill>
                  <a:srgbClr val="0A1D33"/>
                </a:solidFill>
                <a:uFill>
                  <a:noFill/>
                </a:uFill>
                <a:latin typeface="Calibri"/>
                <a:ea typeface="Calibri"/>
                <a:cs typeface="Calibri"/>
                <a:sym typeface="Calibri"/>
                <a:hlinkClick r:id="rId5">
                  <a:extLst>
                    <a:ext uri="{A12FA001-AC4F-418D-AE19-62706E023703}">
                      <ahyp:hlinkClr val="tx"/>
                    </a:ext>
                  </a:extLst>
                </a:hlinkClick>
              </a:rPr>
              <a:t>Vim</a:t>
            </a:r>
            <a:r>
              <a:rPr lang="en" sz="1400">
                <a:solidFill>
                  <a:schemeClr val="dk1"/>
                </a:solidFill>
                <a:latin typeface="Calibri"/>
                <a:ea typeface="Calibri"/>
                <a:cs typeface="Calibri"/>
                <a:sym typeface="Calibri"/>
              </a:rPr>
              <a:t> from the list.</a:t>
            </a:r>
            <a:endParaRPr sz="1400">
              <a:solidFill>
                <a:schemeClr val="dk1"/>
              </a:solidFill>
              <a:latin typeface="Calibri"/>
              <a:ea typeface="Calibri"/>
              <a:cs typeface="Calibri"/>
              <a:sym typeface="Calibri"/>
            </a:endParaRPr>
          </a:p>
          <a:p>
            <a:pPr indent="0" lvl="0" marL="0" rtl="0" algn="l">
              <a:spcBef>
                <a:spcPts val="1200"/>
              </a:spcBef>
              <a:spcAft>
                <a:spcPts val="0"/>
              </a:spcAft>
              <a:buNone/>
            </a:pPr>
            <a:r>
              <a:rPr lang="en" sz="1400">
                <a:solidFill>
                  <a:srgbClr val="001D35"/>
                </a:solidFill>
                <a:highlight>
                  <a:srgbClr val="FFFFFF"/>
                </a:highlight>
                <a:latin typeface="Calibri"/>
                <a:ea typeface="Calibri"/>
                <a:cs typeface="Calibri"/>
                <a:sym typeface="Calibri"/>
              </a:rPr>
              <a:t>Git's default text editor may not match your preferences. The default text editor on Linux and macOS is typically vim, and on Windows it's typically notepad</a:t>
            </a:r>
            <a:endParaRPr sz="1400">
              <a:solidFill>
                <a:srgbClr val="001D35"/>
              </a:solidFill>
              <a:highlight>
                <a:srgbClr val="FFFFFF"/>
              </a:highlight>
              <a:latin typeface="Calibri"/>
              <a:ea typeface="Calibri"/>
              <a:cs typeface="Calibri"/>
              <a:sym typeface="Calibri"/>
            </a:endParaRPr>
          </a:p>
          <a:p>
            <a:pPr indent="0" lvl="0" marL="0" rtl="0" algn="l">
              <a:spcBef>
                <a:spcPts val="1200"/>
              </a:spcBef>
              <a:spcAft>
                <a:spcPts val="0"/>
              </a:spcAft>
              <a:buNone/>
            </a:pPr>
            <a:r>
              <a:t/>
            </a:r>
            <a:endParaRPr sz="1400">
              <a:solidFill>
                <a:srgbClr val="001D35"/>
              </a:solidFill>
              <a:highlight>
                <a:srgbClr val="FFFFFF"/>
              </a:highlight>
              <a:latin typeface="Calibri"/>
              <a:ea typeface="Calibri"/>
              <a:cs typeface="Calibri"/>
              <a:sym typeface="Calibri"/>
            </a:endParaRPr>
          </a:p>
          <a:p>
            <a:pPr indent="0" lvl="0" marL="0" rtl="0" algn="l">
              <a:spcBef>
                <a:spcPts val="1200"/>
              </a:spcBef>
              <a:spcAft>
                <a:spcPts val="1200"/>
              </a:spcAft>
              <a:buNone/>
            </a:pPr>
            <a:r>
              <a:t/>
            </a:r>
            <a:endParaRPr sz="1400">
              <a:latin typeface="Calibri"/>
              <a:ea typeface="Calibri"/>
              <a:cs typeface="Calibri"/>
              <a:sym typeface="Calibri"/>
            </a:endParaRPr>
          </a:p>
        </p:txBody>
      </p:sp>
      <p:pic>
        <p:nvPicPr>
          <p:cNvPr id="89" name="Google Shape;89;p18"/>
          <p:cNvPicPr preferRelativeResize="0"/>
          <p:nvPr/>
        </p:nvPicPr>
        <p:blipFill>
          <a:blip r:embed="rId6">
            <a:alphaModFix/>
          </a:blip>
          <a:stretch>
            <a:fillRect/>
          </a:stretch>
        </p:blipFill>
        <p:spPr>
          <a:xfrm>
            <a:off x="5180023" y="1454875"/>
            <a:ext cx="3963975" cy="3114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Adjusting name of initial branch</a:t>
            </a:r>
            <a:endParaRPr/>
          </a:p>
        </p:txBody>
      </p:sp>
      <p:sp>
        <p:nvSpPr>
          <p:cNvPr id="95" name="Google Shape;95;p19"/>
          <p:cNvSpPr txBox="1"/>
          <p:nvPr>
            <p:ph idx="1" type="body"/>
          </p:nvPr>
        </p:nvSpPr>
        <p:spPr>
          <a:xfrm>
            <a:off x="311700" y="1105450"/>
            <a:ext cx="3347400" cy="232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200">
                <a:solidFill>
                  <a:schemeClr val="dk1"/>
                </a:solidFill>
                <a:latin typeface="Roboto"/>
                <a:ea typeface="Roboto"/>
                <a:cs typeface="Roboto"/>
                <a:sym typeface="Roboto"/>
              </a:rPr>
              <a:t>Allows you to choose a different name for your initial branch. The default is </a:t>
            </a:r>
            <a:r>
              <a:rPr lang="en" sz="1200">
                <a:solidFill>
                  <a:srgbClr val="188038"/>
                </a:solidFill>
                <a:highlight>
                  <a:srgbClr val="F7F7F7"/>
                </a:highlight>
                <a:latin typeface="Courier New"/>
                <a:ea typeface="Courier New"/>
                <a:cs typeface="Courier New"/>
                <a:sym typeface="Courier New"/>
              </a:rPr>
              <a:t>master</a:t>
            </a:r>
            <a:r>
              <a:rPr lang="en" sz="1200">
                <a:solidFill>
                  <a:schemeClr val="dk1"/>
                </a:solidFill>
                <a:latin typeface="Roboto"/>
                <a:ea typeface="Roboto"/>
                <a:cs typeface="Roboto"/>
                <a:sym typeface="Roboto"/>
              </a:rPr>
              <a:t>. Unless you are working in a team that requires a different name, leave the default option and click Next.</a:t>
            </a:r>
            <a:endParaRPr sz="1200">
              <a:solidFill>
                <a:schemeClr val="dk1"/>
              </a:solidFill>
              <a:latin typeface="Roboto"/>
              <a:ea typeface="Roboto"/>
              <a:cs typeface="Roboto"/>
              <a:sym typeface="Roboto"/>
            </a:endParaRPr>
          </a:p>
        </p:txBody>
      </p:sp>
      <p:pic>
        <p:nvPicPr>
          <p:cNvPr id="96" name="Google Shape;96;p19"/>
          <p:cNvPicPr preferRelativeResize="0"/>
          <p:nvPr/>
        </p:nvPicPr>
        <p:blipFill>
          <a:blip r:embed="rId3">
            <a:alphaModFix/>
          </a:blip>
          <a:stretch>
            <a:fillRect/>
          </a:stretch>
        </p:blipFill>
        <p:spPr>
          <a:xfrm>
            <a:off x="4571988" y="1164250"/>
            <a:ext cx="3923269" cy="3097325"/>
          </a:xfrm>
          <a:prstGeom prst="rect">
            <a:avLst/>
          </a:prstGeom>
          <a:noFill/>
          <a:ln>
            <a:noFill/>
          </a:ln>
        </p:spPr>
      </p:pic>
      <p:sp>
        <p:nvSpPr>
          <p:cNvPr id="97" name="Google Shape;97;p19"/>
          <p:cNvSpPr txBox="1"/>
          <p:nvPr/>
        </p:nvSpPr>
        <p:spPr>
          <a:xfrm>
            <a:off x="4997675" y="900250"/>
            <a:ext cx="40707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Adjusting path environment</a:t>
            </a:r>
            <a:endParaRPr/>
          </a:p>
        </p:txBody>
      </p:sp>
      <p:sp>
        <p:nvSpPr>
          <p:cNvPr id="103" name="Google Shape;103;p20"/>
          <p:cNvSpPr txBox="1"/>
          <p:nvPr/>
        </p:nvSpPr>
        <p:spPr>
          <a:xfrm>
            <a:off x="423325" y="1147950"/>
            <a:ext cx="3529800" cy="369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The next step allows you to change the PATH environment. The PATH is the default set of </a:t>
            </a:r>
            <a:r>
              <a:rPr b="1" lang="en" sz="1200">
                <a:solidFill>
                  <a:srgbClr val="0A1D33"/>
                </a:solidFill>
                <a:uFill>
                  <a:noFill/>
                </a:uFill>
                <a:latin typeface="Calibri"/>
                <a:ea typeface="Calibri"/>
                <a:cs typeface="Calibri"/>
                <a:sym typeface="Calibri"/>
                <a:hlinkClick r:id="rId3">
                  <a:extLst>
                    <a:ext uri="{A12FA001-AC4F-418D-AE19-62706E023703}">
                      <ahyp:hlinkClr val="tx"/>
                    </a:ext>
                  </a:extLst>
                </a:hlinkClick>
              </a:rPr>
              <a:t>directories</a:t>
            </a:r>
            <a:r>
              <a:rPr lang="en" sz="1200">
                <a:solidFill>
                  <a:schemeClr val="dk1"/>
                </a:solidFill>
                <a:latin typeface="Calibri"/>
                <a:ea typeface="Calibri"/>
                <a:cs typeface="Calibri"/>
                <a:sym typeface="Calibri"/>
              </a:rPr>
              <a:t> included when you run a command from the command line. Keep the middle (recommended) selection and click Next.</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 sz="1200">
                <a:solidFill>
                  <a:srgbClr val="222222"/>
                </a:solidFill>
                <a:highlight>
                  <a:srgbClr val="FFFFFF"/>
                </a:highlight>
                <a:latin typeface="Calibri"/>
                <a:ea typeface="Calibri"/>
                <a:cs typeface="Calibri"/>
                <a:sym typeface="Calibri"/>
              </a:rPr>
              <a:t>S</a:t>
            </a:r>
            <a:r>
              <a:rPr lang="en" sz="1200">
                <a:solidFill>
                  <a:srgbClr val="222222"/>
                </a:solidFill>
                <a:highlight>
                  <a:srgbClr val="FFFFFF"/>
                </a:highlight>
                <a:latin typeface="Calibri"/>
                <a:ea typeface="Calibri"/>
                <a:cs typeface="Calibri"/>
                <a:sym typeface="Calibri"/>
              </a:rPr>
              <a:t>elect the “Run Git from the Windows Command Prompt” option. Choosing this option will make it easy for you to run Git commands from the Windows Command Prompt (command line) if you choose.</a:t>
            </a:r>
            <a:endParaRPr sz="1200">
              <a:solidFill>
                <a:srgbClr val="222222"/>
              </a:solidFill>
              <a:highlight>
                <a:srgbClr val="FFFFFF"/>
              </a:highlight>
              <a:latin typeface="Calibri"/>
              <a:ea typeface="Calibri"/>
              <a:cs typeface="Calibri"/>
              <a:sym typeface="Calibri"/>
            </a:endParaRPr>
          </a:p>
          <a:p>
            <a:pPr indent="0" lvl="0" marL="0" rtl="0" algn="l">
              <a:spcBef>
                <a:spcPts val="1200"/>
              </a:spcBef>
              <a:spcAft>
                <a:spcPts val="0"/>
              </a:spcAft>
              <a:buNone/>
            </a:pPr>
            <a:r>
              <a:rPr lang="en" sz="1200">
                <a:solidFill>
                  <a:srgbClr val="222222"/>
                </a:solidFill>
                <a:highlight>
                  <a:srgbClr val="FFFFFF"/>
                </a:highlight>
                <a:latin typeface="Calibri"/>
                <a:ea typeface="Calibri"/>
                <a:cs typeface="Calibri"/>
                <a:sym typeface="Calibri"/>
              </a:rPr>
              <a:t>The Git Bash tool works in the same way as the default Windows’ Command Prompt, but has some special features. With Git Bash you’ll be able to use a number of UNIX command line tools along with access to Git, and we recommend it since it’s often simpler to use than the Windows Command Prompt.</a:t>
            </a:r>
            <a:endParaRPr sz="1200">
              <a:solidFill>
                <a:srgbClr val="222222"/>
              </a:solidFill>
              <a:highlight>
                <a:srgbClr val="FFFFFF"/>
              </a:highlight>
              <a:latin typeface="Calibri"/>
              <a:ea typeface="Calibri"/>
              <a:cs typeface="Calibri"/>
              <a:sym typeface="Calibri"/>
            </a:endParaRPr>
          </a:p>
          <a:p>
            <a:pPr indent="0" lvl="0" marL="0" rtl="0" algn="l">
              <a:spcBef>
                <a:spcPts val="0"/>
              </a:spcBef>
              <a:spcAft>
                <a:spcPts val="0"/>
              </a:spcAft>
              <a:buNone/>
            </a:pPr>
            <a:r>
              <a:t/>
            </a:r>
            <a:endParaRPr sz="1200">
              <a:solidFill>
                <a:srgbClr val="222222"/>
              </a:solidFill>
              <a:highlight>
                <a:srgbClr val="FFFFFF"/>
              </a:highlight>
              <a:latin typeface="Calibri"/>
              <a:ea typeface="Calibri"/>
              <a:cs typeface="Calibri"/>
              <a:sym typeface="Calibri"/>
            </a:endParaRPr>
          </a:p>
        </p:txBody>
      </p:sp>
      <p:pic>
        <p:nvPicPr>
          <p:cNvPr id="104" name="Google Shape;104;p20"/>
          <p:cNvPicPr preferRelativeResize="0"/>
          <p:nvPr/>
        </p:nvPicPr>
        <p:blipFill>
          <a:blip r:embed="rId4">
            <a:alphaModFix/>
          </a:blip>
          <a:stretch>
            <a:fillRect/>
          </a:stretch>
        </p:blipFill>
        <p:spPr>
          <a:xfrm>
            <a:off x="4572000" y="1270050"/>
            <a:ext cx="3923250" cy="30751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Choosing the SSH Executable</a:t>
            </a:r>
            <a:endParaRPr/>
          </a:p>
        </p:txBody>
      </p:sp>
      <p:sp>
        <p:nvSpPr>
          <p:cNvPr id="110" name="Google Shape;110;p21"/>
          <p:cNvSpPr txBox="1"/>
          <p:nvPr>
            <p:ph idx="1" type="body"/>
          </p:nvPr>
        </p:nvSpPr>
        <p:spPr>
          <a:xfrm>
            <a:off x="311700" y="1152475"/>
            <a:ext cx="4500600" cy="38025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sz="1200">
                <a:solidFill>
                  <a:schemeClr val="dk1"/>
                </a:solidFill>
                <a:latin typeface="Roboto"/>
                <a:ea typeface="Roboto"/>
                <a:cs typeface="Roboto"/>
                <a:sym typeface="Roboto"/>
              </a:rPr>
              <a:t>The installer prompts you to select the SSH client for Git to use. Git already comes with its own SSH client, so if you don't need a specific one, leave the default option and click Next.</a:t>
            </a:r>
            <a:endParaRPr sz="1200">
              <a:solidFill>
                <a:schemeClr val="dk1"/>
              </a:solidFill>
              <a:latin typeface="Roboto"/>
              <a:ea typeface="Roboto"/>
              <a:cs typeface="Roboto"/>
              <a:sym typeface="Roboto"/>
            </a:endParaRPr>
          </a:p>
          <a:p>
            <a:pPr indent="0" lvl="0" marL="0" rtl="0" algn="l">
              <a:spcBef>
                <a:spcPts val="1200"/>
              </a:spcBef>
              <a:spcAft>
                <a:spcPts val="0"/>
              </a:spcAft>
              <a:buNone/>
            </a:pPr>
            <a:r>
              <a:rPr b="1" lang="en" sz="1350">
                <a:solidFill>
                  <a:srgbClr val="001D35"/>
                </a:solidFill>
                <a:highlight>
                  <a:srgbClr val="FFFFFF"/>
                </a:highlight>
              </a:rPr>
              <a:t>Bundled OpenSSH</a:t>
            </a:r>
            <a:br>
              <a:rPr b="1" lang="en" sz="1350">
                <a:solidFill>
                  <a:srgbClr val="001D35"/>
                </a:solidFill>
                <a:highlight>
                  <a:srgbClr val="FFFFFF"/>
                </a:highlight>
              </a:rPr>
            </a:br>
            <a:r>
              <a:rPr lang="en" sz="1350">
                <a:solidFill>
                  <a:srgbClr val="001D35"/>
                </a:solidFill>
                <a:highlight>
                  <a:srgbClr val="FFFFFF"/>
                </a:highlight>
              </a:rPr>
              <a:t>Uses the ssh.exe that comes with Git. Git will not install its own OpenSSH binaries, but will use them as found on the PATH.</a:t>
            </a:r>
            <a:endParaRPr sz="1350">
              <a:solidFill>
                <a:srgbClr val="001D35"/>
              </a:solidFill>
              <a:highlight>
                <a:srgbClr val="FFFFFF"/>
              </a:highlight>
            </a:endParaRPr>
          </a:p>
          <a:p>
            <a:pPr indent="0" lvl="0" marL="0" rtl="0" algn="l">
              <a:spcBef>
                <a:spcPts val="2100"/>
              </a:spcBef>
              <a:spcAft>
                <a:spcPts val="0"/>
              </a:spcAft>
              <a:buNone/>
            </a:pPr>
            <a:r>
              <a:rPr b="1" lang="en" sz="1350">
                <a:solidFill>
                  <a:srgbClr val="001D35"/>
                </a:solidFill>
                <a:highlight>
                  <a:srgbClr val="FFFFFF"/>
                </a:highlight>
              </a:rPr>
              <a:t>External OpenSSH</a:t>
            </a:r>
            <a:br>
              <a:rPr b="1" lang="en" sz="1350">
                <a:solidFill>
                  <a:srgbClr val="001D35"/>
                </a:solidFill>
                <a:highlight>
                  <a:srgbClr val="FFFFFF"/>
                </a:highlight>
              </a:rPr>
            </a:br>
            <a:r>
              <a:rPr lang="en" sz="1350">
                <a:solidFill>
                  <a:srgbClr val="001D35"/>
                </a:solidFill>
                <a:highlight>
                  <a:srgbClr val="FFFFFF"/>
                </a:highlight>
              </a:rPr>
              <a:t>Git doesn't install its own OpenSSH, so you can use other SSHs, like Windows OpenSSH.</a:t>
            </a:r>
            <a:endParaRPr sz="1350">
              <a:solidFill>
                <a:srgbClr val="001D35"/>
              </a:solidFill>
              <a:highlight>
                <a:srgbClr val="FFFFFF"/>
              </a:highlight>
            </a:endParaRPr>
          </a:p>
          <a:p>
            <a:pPr indent="0" lvl="0" marL="0" marR="63500" rtl="0" algn="l">
              <a:spcBef>
                <a:spcPts val="2100"/>
              </a:spcBef>
              <a:spcAft>
                <a:spcPts val="0"/>
              </a:spcAft>
              <a:buClr>
                <a:schemeClr val="dk1"/>
              </a:buClr>
              <a:buSzPct val="81481"/>
              <a:buFont typeface="Arial"/>
              <a:buNone/>
            </a:pPr>
            <a:r>
              <a:rPr lang="en" sz="1350">
                <a:solidFill>
                  <a:srgbClr val="001D35"/>
                </a:solidFill>
                <a:highlight>
                  <a:srgbClr val="FFFFFF"/>
                </a:highlight>
              </a:rPr>
              <a:t>When deciding between bundled and external OpenSSH, you can consider: </a:t>
            </a:r>
            <a:endParaRPr sz="1350">
              <a:solidFill>
                <a:srgbClr val="001D35"/>
              </a:solidFill>
              <a:highlight>
                <a:srgbClr val="FFFFFF"/>
              </a:highlight>
            </a:endParaRPr>
          </a:p>
          <a:p>
            <a:pPr indent="-301466" lvl="0" marL="457200" rtl="0" algn="l">
              <a:spcBef>
                <a:spcPts val="800"/>
              </a:spcBef>
              <a:spcAft>
                <a:spcPts val="0"/>
              </a:spcAft>
              <a:buClr>
                <a:srgbClr val="001D35"/>
              </a:buClr>
              <a:buSzPct val="100000"/>
              <a:buChar char="●"/>
            </a:pPr>
            <a:r>
              <a:rPr b="1" lang="en" sz="1350">
                <a:solidFill>
                  <a:srgbClr val="001D35"/>
                </a:solidFill>
                <a:highlight>
                  <a:srgbClr val="FFFFFF"/>
                </a:highlight>
              </a:rPr>
              <a:t>Bundled OpenSSH binaries</a:t>
            </a:r>
            <a:r>
              <a:rPr lang="en" sz="1350">
                <a:solidFill>
                  <a:srgbClr val="001D35"/>
                </a:solidFill>
                <a:highlight>
                  <a:srgbClr val="FFFFFF"/>
                </a:highlight>
              </a:rPr>
              <a:t>: A good option if you want to select what best fits your needs.</a:t>
            </a:r>
            <a:endParaRPr sz="1350">
              <a:solidFill>
                <a:srgbClr val="001D35"/>
              </a:solidFill>
              <a:highlight>
                <a:srgbClr val="FFFFFF"/>
              </a:highlight>
            </a:endParaRPr>
          </a:p>
          <a:p>
            <a:pPr indent="-301466" lvl="0" marL="457200" rtl="0" algn="l">
              <a:spcBef>
                <a:spcPts val="0"/>
              </a:spcBef>
              <a:spcAft>
                <a:spcPts val="0"/>
              </a:spcAft>
              <a:buClr>
                <a:srgbClr val="001D35"/>
              </a:buClr>
              <a:buSzPct val="100000"/>
              <a:buChar char="●"/>
            </a:pPr>
            <a:r>
              <a:rPr b="1" lang="en" sz="1350">
                <a:solidFill>
                  <a:srgbClr val="001D35"/>
                </a:solidFill>
                <a:highlight>
                  <a:srgbClr val="FFFFFF"/>
                </a:highlight>
              </a:rPr>
              <a:t>External OpenSSH</a:t>
            </a:r>
            <a:r>
              <a:rPr lang="en" sz="1350">
                <a:solidFill>
                  <a:srgbClr val="001D35"/>
                </a:solidFill>
                <a:highlight>
                  <a:srgbClr val="FFFFFF"/>
                </a:highlight>
              </a:rPr>
              <a:t>: Might be feasible for PuTTY users, but they usually involve more setup with IDEs and other tools.</a:t>
            </a:r>
            <a:endParaRPr sz="1350">
              <a:solidFill>
                <a:srgbClr val="001D35"/>
              </a:solidFill>
              <a:highlight>
                <a:srgbClr val="FFFFFF"/>
              </a:highlight>
            </a:endParaRPr>
          </a:p>
          <a:p>
            <a:pPr indent="0" lvl="0" marL="0" rtl="0" algn="l">
              <a:spcBef>
                <a:spcPts val="1500"/>
              </a:spcBef>
              <a:spcAft>
                <a:spcPts val="1200"/>
              </a:spcAft>
              <a:buNone/>
            </a:pPr>
            <a:r>
              <a:t/>
            </a:r>
            <a:endParaRPr sz="1200">
              <a:solidFill>
                <a:schemeClr val="dk1"/>
              </a:solidFill>
              <a:latin typeface="Roboto"/>
              <a:ea typeface="Roboto"/>
              <a:cs typeface="Roboto"/>
              <a:sym typeface="Roboto"/>
            </a:endParaRPr>
          </a:p>
        </p:txBody>
      </p:sp>
      <p:pic>
        <p:nvPicPr>
          <p:cNvPr id="111" name="Google Shape;111;p21"/>
          <p:cNvPicPr preferRelativeResize="0"/>
          <p:nvPr/>
        </p:nvPicPr>
        <p:blipFill>
          <a:blip r:embed="rId3">
            <a:alphaModFix/>
          </a:blip>
          <a:stretch>
            <a:fillRect/>
          </a:stretch>
        </p:blipFill>
        <p:spPr>
          <a:xfrm>
            <a:off x="4812225" y="1360388"/>
            <a:ext cx="4331775" cy="338666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Server certifications</a:t>
            </a:r>
            <a:endParaRPr/>
          </a:p>
        </p:txBody>
      </p:sp>
      <p:sp>
        <p:nvSpPr>
          <p:cNvPr id="117" name="Google Shape;117;p22"/>
          <p:cNvSpPr txBox="1"/>
          <p:nvPr>
            <p:ph idx="1" type="body"/>
          </p:nvPr>
        </p:nvSpPr>
        <p:spPr>
          <a:xfrm>
            <a:off x="311700" y="1152475"/>
            <a:ext cx="39471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latin typeface="Calibri"/>
                <a:ea typeface="Calibri"/>
                <a:cs typeface="Calibri"/>
                <a:sym typeface="Calibri"/>
              </a:rPr>
              <a:t>The next option relates to server certificates. The default option is recommended for most users. If you work in an Active Directory environment, you may need to switch to Windows Store certificates. Select your preferred option and click Next.</a:t>
            </a:r>
            <a:endParaRPr sz="1400">
              <a:solidFill>
                <a:schemeClr val="dk1"/>
              </a:solidFill>
              <a:latin typeface="Calibri"/>
              <a:ea typeface="Calibri"/>
              <a:cs typeface="Calibri"/>
              <a:sym typeface="Calibri"/>
            </a:endParaRPr>
          </a:p>
          <a:p>
            <a:pPr indent="0" lvl="0" marL="0" rtl="0" algn="l">
              <a:spcBef>
                <a:spcPts val="1200"/>
              </a:spcBef>
              <a:spcAft>
                <a:spcPts val="1200"/>
              </a:spcAft>
              <a:buNone/>
            </a:pPr>
            <a:r>
              <a:rPr lang="en" sz="1400">
                <a:solidFill>
                  <a:srgbClr val="0C0D0E"/>
                </a:solidFill>
                <a:highlight>
                  <a:srgbClr val="FFFFFF"/>
                </a:highlight>
                <a:latin typeface="Calibri"/>
                <a:ea typeface="Calibri"/>
                <a:cs typeface="Calibri"/>
                <a:sym typeface="Calibri"/>
              </a:rPr>
              <a:t>If you are using git in an organization with enterprise-managed certificates, then you will need to use Secure Channel. If you are using git only to access public repositories (like GitHub) or your organization does not manage its own certificates, then you are perfectly fine using either SSL backend (they are just different implementations of the same protocol).</a:t>
            </a:r>
            <a:endParaRPr sz="1400">
              <a:solidFill>
                <a:schemeClr val="dk1"/>
              </a:solidFill>
              <a:latin typeface="Calibri"/>
              <a:ea typeface="Calibri"/>
              <a:cs typeface="Calibri"/>
              <a:sym typeface="Calibri"/>
            </a:endParaRPr>
          </a:p>
        </p:txBody>
      </p:sp>
      <p:pic>
        <p:nvPicPr>
          <p:cNvPr id="118" name="Google Shape;118;p22"/>
          <p:cNvPicPr preferRelativeResize="0"/>
          <p:nvPr/>
        </p:nvPicPr>
        <p:blipFill>
          <a:blip r:embed="rId3">
            <a:alphaModFix/>
          </a:blip>
          <a:stretch>
            <a:fillRect/>
          </a:stretch>
        </p:blipFill>
        <p:spPr>
          <a:xfrm>
            <a:off x="4411200" y="1170125"/>
            <a:ext cx="4580400" cy="359029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Configuring line ending conversions</a:t>
            </a:r>
            <a:endParaRPr/>
          </a:p>
        </p:txBody>
      </p:sp>
      <p:sp>
        <p:nvSpPr>
          <p:cNvPr id="124" name="Google Shape;124;p23"/>
          <p:cNvSpPr txBox="1"/>
          <p:nvPr>
            <p:ph idx="1" type="body"/>
          </p:nvPr>
        </p:nvSpPr>
        <p:spPr>
          <a:xfrm>
            <a:off x="311700" y="1152475"/>
            <a:ext cx="4505100" cy="370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chemeClr val="dk1"/>
                </a:solidFill>
                <a:highlight>
                  <a:schemeClr val="lt1"/>
                </a:highlight>
                <a:latin typeface="Calibri"/>
                <a:ea typeface="Calibri"/>
                <a:cs typeface="Calibri"/>
                <a:sym typeface="Calibri"/>
              </a:rPr>
              <a:t>This configures line-ending conversion, which relates to the way data is formatted. The default selection is recommended for Windows. Click Next to proceed.</a:t>
            </a:r>
            <a:endParaRPr sz="1400">
              <a:solidFill>
                <a:schemeClr val="dk1"/>
              </a:solidFill>
              <a:highlight>
                <a:schemeClr val="lt1"/>
              </a:highlight>
              <a:latin typeface="Calibri"/>
              <a:ea typeface="Calibri"/>
              <a:cs typeface="Calibri"/>
              <a:sym typeface="Calibri"/>
            </a:endParaRPr>
          </a:p>
          <a:p>
            <a:pPr indent="0" lvl="0" marL="0" rtl="0" algn="l">
              <a:spcBef>
                <a:spcPts val="1200"/>
              </a:spcBef>
              <a:spcAft>
                <a:spcPts val="0"/>
              </a:spcAft>
              <a:buNone/>
            </a:pPr>
            <a:r>
              <a:rPr lang="en" sz="1400">
                <a:solidFill>
                  <a:schemeClr val="dk1"/>
                </a:solidFill>
                <a:highlight>
                  <a:schemeClr val="lt1"/>
                </a:highlight>
                <a:latin typeface="Calibri"/>
                <a:ea typeface="Calibri"/>
                <a:cs typeface="Calibri"/>
                <a:sym typeface="Calibri"/>
              </a:rPr>
              <a:t>Windows software uses two characters to indicate the end of a line in a text file (CRLF) while Unix and Linux systems use only a single character (LF).</a:t>
            </a:r>
            <a:endParaRPr sz="1400">
              <a:solidFill>
                <a:schemeClr val="dk1"/>
              </a:solidFill>
              <a:highlight>
                <a:schemeClr val="lt1"/>
              </a:highlight>
              <a:latin typeface="Calibri"/>
              <a:ea typeface="Calibri"/>
              <a:cs typeface="Calibri"/>
              <a:sym typeface="Calibri"/>
            </a:endParaRPr>
          </a:p>
          <a:p>
            <a:pPr indent="0" lvl="0" marL="0" rtl="0" algn="l">
              <a:spcBef>
                <a:spcPts val="1200"/>
              </a:spcBef>
              <a:spcAft>
                <a:spcPts val="1200"/>
              </a:spcAft>
              <a:buNone/>
            </a:pPr>
            <a:r>
              <a:rPr lang="en" sz="1400">
                <a:solidFill>
                  <a:schemeClr val="dk1"/>
                </a:solidFill>
                <a:highlight>
                  <a:schemeClr val="lt1"/>
                </a:highlight>
                <a:latin typeface="Calibri"/>
                <a:ea typeface="Calibri"/>
                <a:cs typeface="Calibri"/>
                <a:sym typeface="Calibri"/>
              </a:rPr>
              <a:t>Make sure to leave the option “Checkout Windows-style, commit Unix-style line endings” selected. This option makes sure that Git converts LF to CRLF when checking out text files. When committing text files, CRLF will also be converted to LF. This is a compatibility measure to protect newlines in text files, allowing you to easily work with text files on Windows and on Unix-style platforms.</a:t>
            </a:r>
            <a:endParaRPr sz="1400">
              <a:solidFill>
                <a:schemeClr val="dk1"/>
              </a:solidFill>
              <a:highlight>
                <a:schemeClr val="lt1"/>
              </a:highlight>
              <a:latin typeface="Calibri"/>
              <a:ea typeface="Calibri"/>
              <a:cs typeface="Calibri"/>
              <a:sym typeface="Calibri"/>
            </a:endParaRPr>
          </a:p>
        </p:txBody>
      </p:sp>
      <p:pic>
        <p:nvPicPr>
          <p:cNvPr id="125" name="Google Shape;125;p23"/>
          <p:cNvPicPr preferRelativeResize="0"/>
          <p:nvPr/>
        </p:nvPicPr>
        <p:blipFill>
          <a:blip r:embed="rId3">
            <a:alphaModFix/>
          </a:blip>
          <a:stretch>
            <a:fillRect/>
          </a:stretch>
        </p:blipFill>
        <p:spPr>
          <a:xfrm>
            <a:off x="4816725" y="1161300"/>
            <a:ext cx="4327275" cy="3398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Terminal emulator</a:t>
            </a:r>
            <a:endParaRPr/>
          </a:p>
        </p:txBody>
      </p:sp>
      <p:sp>
        <p:nvSpPr>
          <p:cNvPr id="131" name="Google Shape;131;p24"/>
          <p:cNvSpPr txBox="1"/>
          <p:nvPr>
            <p:ph idx="1" type="body"/>
          </p:nvPr>
        </p:nvSpPr>
        <p:spPr>
          <a:xfrm>
            <a:off x="311700" y="1152475"/>
            <a:ext cx="4005900" cy="3416400"/>
          </a:xfrm>
          <a:prstGeom prst="rect">
            <a:avLst/>
          </a:prstGeom>
        </p:spPr>
        <p:txBody>
          <a:bodyPr anchorCtr="0" anchor="t" bIns="91425" lIns="91425" spcFirstLastPara="1" rIns="91425" wrap="square" tIns="91425">
            <a:noAutofit/>
          </a:bodyPr>
          <a:lstStyle/>
          <a:p>
            <a:pPr indent="0" lvl="0" marL="0" rtl="0" algn="l">
              <a:lnSpc>
                <a:spcPct val="130000"/>
              </a:lnSpc>
              <a:spcBef>
                <a:spcPts val="0"/>
              </a:spcBef>
              <a:spcAft>
                <a:spcPts val="0"/>
              </a:spcAft>
              <a:buClr>
                <a:schemeClr val="dk1"/>
              </a:buClr>
              <a:buSzPts val="1018"/>
              <a:buFont typeface="Arial"/>
              <a:buNone/>
            </a:pPr>
            <a:r>
              <a:rPr lang="en" sz="1302">
                <a:solidFill>
                  <a:srgbClr val="576366"/>
                </a:solidFill>
                <a:highlight>
                  <a:srgbClr val="FFFFFF"/>
                </a:highlight>
                <a:latin typeface="Calibri"/>
                <a:ea typeface="Calibri"/>
                <a:cs typeface="Calibri"/>
                <a:sym typeface="Calibri"/>
              </a:rPr>
              <a:t>If you don’t use Git Bash at all, just ignore it and click next to go to the next step.</a:t>
            </a:r>
            <a:endParaRPr sz="1302">
              <a:solidFill>
                <a:srgbClr val="576366"/>
              </a:solidFill>
              <a:highlight>
                <a:srgbClr val="FFFFFF"/>
              </a:highlight>
              <a:latin typeface="Calibri"/>
              <a:ea typeface="Calibri"/>
              <a:cs typeface="Calibri"/>
              <a:sym typeface="Calibri"/>
            </a:endParaRPr>
          </a:p>
          <a:p>
            <a:pPr indent="0" lvl="0" marL="0" rtl="0" algn="l">
              <a:lnSpc>
                <a:spcPct val="130000"/>
              </a:lnSpc>
              <a:spcBef>
                <a:spcPts val="1100"/>
              </a:spcBef>
              <a:spcAft>
                <a:spcPts val="0"/>
              </a:spcAft>
              <a:buClr>
                <a:schemeClr val="dk1"/>
              </a:buClr>
              <a:buSzPts val="1018"/>
              <a:buFont typeface="Arial"/>
              <a:buNone/>
            </a:pPr>
            <a:r>
              <a:rPr lang="en" sz="1302">
                <a:solidFill>
                  <a:srgbClr val="576366"/>
                </a:solidFill>
                <a:highlight>
                  <a:srgbClr val="FFFFFF"/>
                </a:highlight>
                <a:latin typeface="Calibri"/>
                <a:ea typeface="Calibri"/>
                <a:cs typeface="Calibri"/>
                <a:sym typeface="Calibri"/>
              </a:rPr>
              <a:t>If you are familiar with Linux command line, then the first option is right for you (note: you can still run windows command while using MinTTY), otherwise, choose the second one.</a:t>
            </a:r>
            <a:endParaRPr sz="1302">
              <a:solidFill>
                <a:srgbClr val="576366"/>
              </a:solidFill>
              <a:highlight>
                <a:srgbClr val="FFFFFF"/>
              </a:highlight>
              <a:latin typeface="Calibri"/>
              <a:ea typeface="Calibri"/>
              <a:cs typeface="Calibri"/>
              <a:sym typeface="Calibri"/>
            </a:endParaRPr>
          </a:p>
          <a:p>
            <a:pPr indent="0" lvl="0" marL="0" rtl="0" algn="l">
              <a:lnSpc>
                <a:spcPct val="130000"/>
              </a:lnSpc>
              <a:spcBef>
                <a:spcPts val="1100"/>
              </a:spcBef>
              <a:spcAft>
                <a:spcPts val="0"/>
              </a:spcAft>
              <a:buClr>
                <a:schemeClr val="dk1"/>
              </a:buClr>
              <a:buSzPts val="1018"/>
              <a:buFont typeface="Arial"/>
              <a:buNone/>
            </a:pPr>
            <a:r>
              <a:rPr lang="en" sz="1302">
                <a:solidFill>
                  <a:srgbClr val="576366"/>
                </a:solidFill>
                <a:highlight>
                  <a:srgbClr val="FFFFFF"/>
                </a:highlight>
                <a:latin typeface="Calibri"/>
                <a:ea typeface="Calibri"/>
                <a:cs typeface="Calibri"/>
                <a:sym typeface="Calibri"/>
              </a:rPr>
              <a:t>As described in the wizard, the Windows console has some limitations: width is fixed (prior to windows 10), the scroll-back is very limited means that very limited command history, need to be configured to use Non-ASCII Character, etc… while MinTTY doesn’t.</a:t>
            </a:r>
            <a:endParaRPr sz="1302">
              <a:solidFill>
                <a:srgbClr val="576366"/>
              </a:solidFill>
              <a:highlight>
                <a:srgbClr val="FFFFFF"/>
              </a:highlight>
              <a:latin typeface="Calibri"/>
              <a:ea typeface="Calibri"/>
              <a:cs typeface="Calibri"/>
              <a:sym typeface="Calibri"/>
            </a:endParaRPr>
          </a:p>
          <a:p>
            <a:pPr indent="0" lvl="0" marL="0" rtl="0" algn="l">
              <a:lnSpc>
                <a:spcPct val="95000"/>
              </a:lnSpc>
              <a:spcBef>
                <a:spcPts val="0"/>
              </a:spcBef>
              <a:spcAft>
                <a:spcPts val="1200"/>
              </a:spcAft>
              <a:buSzPts val="1018"/>
              <a:buNone/>
            </a:pPr>
            <a:r>
              <a:t/>
            </a:r>
            <a:endParaRPr sz="1302">
              <a:latin typeface="Calibri"/>
              <a:ea typeface="Calibri"/>
              <a:cs typeface="Calibri"/>
              <a:sym typeface="Calibri"/>
            </a:endParaRPr>
          </a:p>
        </p:txBody>
      </p:sp>
      <p:pic>
        <p:nvPicPr>
          <p:cNvPr id="132" name="Google Shape;132;p24"/>
          <p:cNvPicPr preferRelativeResize="0"/>
          <p:nvPr/>
        </p:nvPicPr>
        <p:blipFill>
          <a:blip r:embed="rId3">
            <a:alphaModFix/>
          </a:blip>
          <a:stretch>
            <a:fillRect/>
          </a:stretch>
        </p:blipFill>
        <p:spPr>
          <a:xfrm>
            <a:off x="4517025" y="1093138"/>
            <a:ext cx="4521600" cy="353506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Choosing what git pull will do</a:t>
            </a:r>
            <a:endParaRPr/>
          </a:p>
        </p:txBody>
      </p:sp>
      <p:sp>
        <p:nvSpPr>
          <p:cNvPr id="138" name="Google Shape;138;p25"/>
          <p:cNvSpPr txBox="1"/>
          <p:nvPr>
            <p:ph idx="1" type="body"/>
          </p:nvPr>
        </p:nvSpPr>
        <p:spPr>
          <a:xfrm>
            <a:off x="311700" y="1152475"/>
            <a:ext cx="37707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highlight>
                  <a:schemeClr val="lt1"/>
                </a:highlight>
                <a:latin typeface="Roboto"/>
                <a:ea typeface="Roboto"/>
                <a:cs typeface="Roboto"/>
                <a:sym typeface="Roboto"/>
              </a:rPr>
              <a:t>The git pull command is actually a combination of two other commands, </a:t>
            </a:r>
            <a:r>
              <a:rPr lang="en" sz="1400">
                <a:solidFill>
                  <a:schemeClr val="dk1"/>
                </a:solidFill>
                <a:highlight>
                  <a:schemeClr val="lt1"/>
                </a:highlight>
                <a:uFill>
                  <a:noFill/>
                </a:uFill>
                <a:latin typeface="Roboto"/>
                <a:ea typeface="Roboto"/>
                <a:cs typeface="Roboto"/>
                <a:sym typeface="Roboto"/>
                <a:hlinkClick r:id="rId3">
                  <a:extLst>
                    <a:ext uri="{A12FA001-AC4F-418D-AE19-62706E023703}">
                      <ahyp:hlinkClr val="tx"/>
                    </a:ext>
                  </a:extLst>
                </a:hlinkClick>
              </a:rPr>
              <a:t>git fetch</a:t>
            </a:r>
            <a:r>
              <a:rPr lang="en" sz="1400">
                <a:solidFill>
                  <a:schemeClr val="dk1"/>
                </a:solidFill>
                <a:highlight>
                  <a:schemeClr val="lt1"/>
                </a:highlight>
                <a:latin typeface="Roboto"/>
                <a:ea typeface="Roboto"/>
                <a:cs typeface="Roboto"/>
                <a:sym typeface="Roboto"/>
              </a:rPr>
              <a:t> followed by </a:t>
            </a:r>
            <a:r>
              <a:rPr lang="en" sz="1400">
                <a:solidFill>
                  <a:schemeClr val="dk1"/>
                </a:solidFill>
                <a:highlight>
                  <a:schemeClr val="lt1"/>
                </a:highlight>
                <a:uFill>
                  <a:noFill/>
                </a:uFill>
                <a:latin typeface="Roboto"/>
                <a:ea typeface="Roboto"/>
                <a:cs typeface="Roboto"/>
                <a:sym typeface="Roboto"/>
                <a:hlinkClick r:id="rId4">
                  <a:extLst>
                    <a:ext uri="{A12FA001-AC4F-418D-AE19-62706E023703}">
                      <ahyp:hlinkClr val="tx"/>
                    </a:ext>
                  </a:extLst>
                </a:hlinkClick>
              </a:rPr>
              <a:t>git merge</a:t>
            </a:r>
            <a:r>
              <a:rPr lang="en" sz="1400">
                <a:solidFill>
                  <a:schemeClr val="dk1"/>
                </a:solidFill>
                <a:highlight>
                  <a:schemeClr val="lt1"/>
                </a:highlight>
                <a:latin typeface="Roboto"/>
                <a:ea typeface="Roboto"/>
                <a:cs typeface="Roboto"/>
                <a:sym typeface="Roboto"/>
              </a:rPr>
              <a:t>. </a:t>
            </a:r>
            <a:endParaRPr sz="1400">
              <a:solidFill>
                <a:schemeClr val="dk1"/>
              </a:solidFill>
              <a:highlight>
                <a:schemeClr val="lt1"/>
              </a:highlight>
              <a:latin typeface="Roboto"/>
              <a:ea typeface="Roboto"/>
              <a:cs typeface="Roboto"/>
              <a:sym typeface="Roboto"/>
            </a:endParaRPr>
          </a:p>
          <a:p>
            <a:pPr indent="0" lvl="0" marL="0" rtl="0" algn="l">
              <a:spcBef>
                <a:spcPts val="1200"/>
              </a:spcBef>
              <a:spcAft>
                <a:spcPts val="0"/>
              </a:spcAft>
              <a:buNone/>
            </a:pPr>
            <a:r>
              <a:rPr lang="en" sz="1400">
                <a:solidFill>
                  <a:schemeClr val="dk1"/>
                </a:solidFill>
                <a:highlight>
                  <a:schemeClr val="lt1"/>
                </a:highlight>
                <a:latin typeface="Roboto"/>
                <a:ea typeface="Roboto"/>
                <a:cs typeface="Roboto"/>
                <a:sym typeface="Roboto"/>
              </a:rPr>
              <a:t>Rebase is done when you have branches outdated compared to master.</a:t>
            </a:r>
            <a:r>
              <a:rPr lang="en" sz="1400">
                <a:solidFill>
                  <a:schemeClr val="dk1"/>
                </a:solidFill>
                <a:highlight>
                  <a:srgbClr val="FFFFFF"/>
                </a:highlight>
                <a:latin typeface="Roboto"/>
                <a:ea typeface="Roboto"/>
                <a:cs typeface="Roboto"/>
                <a:sym typeface="Roboto"/>
              </a:rPr>
              <a:t>Rebasing is a process to move a series of commits to a new base commit. It's useful for cleaning up your project history before merging changes.</a:t>
            </a:r>
            <a:endParaRPr sz="1400">
              <a:solidFill>
                <a:schemeClr val="dk1"/>
              </a:solidFill>
              <a:highlight>
                <a:schemeClr val="lt1"/>
              </a:highlight>
              <a:latin typeface="Roboto"/>
              <a:ea typeface="Roboto"/>
              <a:cs typeface="Roboto"/>
              <a:sym typeface="Roboto"/>
            </a:endParaRPr>
          </a:p>
          <a:p>
            <a:pPr indent="0" lvl="0" marL="0" rtl="0" algn="l">
              <a:spcBef>
                <a:spcPts val="1200"/>
              </a:spcBef>
              <a:spcAft>
                <a:spcPts val="0"/>
              </a:spcAft>
              <a:buNone/>
            </a:pPr>
            <a:r>
              <a:rPr lang="en" sz="1400">
                <a:solidFill>
                  <a:schemeClr val="dk1"/>
                </a:solidFill>
                <a:highlight>
                  <a:schemeClr val="lt1"/>
                </a:highlight>
                <a:latin typeface="Roboto"/>
                <a:ea typeface="Roboto"/>
                <a:cs typeface="Roboto"/>
                <a:sym typeface="Roboto"/>
              </a:rPr>
              <a:t>Choose default option to let git decide what is best on scenario basis.</a:t>
            </a:r>
            <a:endParaRPr sz="1400">
              <a:solidFill>
                <a:schemeClr val="dk1"/>
              </a:solidFill>
              <a:highlight>
                <a:schemeClr val="lt1"/>
              </a:highlight>
              <a:latin typeface="Roboto"/>
              <a:ea typeface="Roboto"/>
              <a:cs typeface="Roboto"/>
              <a:sym typeface="Roboto"/>
            </a:endParaRPr>
          </a:p>
          <a:p>
            <a:pPr indent="0" lvl="0" marL="0" rtl="0" algn="l">
              <a:spcBef>
                <a:spcPts val="1200"/>
              </a:spcBef>
              <a:spcAft>
                <a:spcPts val="1200"/>
              </a:spcAft>
              <a:buNone/>
            </a:pPr>
            <a:r>
              <a:t/>
            </a:r>
            <a:endParaRPr sz="1400">
              <a:solidFill>
                <a:schemeClr val="dk1"/>
              </a:solidFill>
              <a:highlight>
                <a:schemeClr val="lt1"/>
              </a:highlight>
              <a:latin typeface="Roboto"/>
              <a:ea typeface="Roboto"/>
              <a:cs typeface="Roboto"/>
              <a:sym typeface="Roboto"/>
            </a:endParaRPr>
          </a:p>
        </p:txBody>
      </p:sp>
      <p:pic>
        <p:nvPicPr>
          <p:cNvPr id="139" name="Google Shape;139;p25"/>
          <p:cNvPicPr preferRelativeResize="0"/>
          <p:nvPr/>
        </p:nvPicPr>
        <p:blipFill>
          <a:blip r:embed="rId5">
            <a:alphaModFix/>
          </a:blip>
          <a:stretch>
            <a:fillRect/>
          </a:stretch>
        </p:blipFill>
        <p:spPr>
          <a:xfrm>
            <a:off x="4234800" y="1170125"/>
            <a:ext cx="4714875" cy="3667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Choose credential helper</a:t>
            </a:r>
            <a:endParaRPr/>
          </a:p>
        </p:txBody>
      </p:sp>
      <p:sp>
        <p:nvSpPr>
          <p:cNvPr id="145" name="Google Shape;145;p26"/>
          <p:cNvSpPr txBox="1"/>
          <p:nvPr>
            <p:ph idx="1" type="body"/>
          </p:nvPr>
        </p:nvSpPr>
        <p:spPr>
          <a:xfrm>
            <a:off x="311700" y="1152475"/>
            <a:ext cx="3699000" cy="3708300"/>
          </a:xfrm>
          <a:prstGeom prst="rect">
            <a:avLst/>
          </a:prstGeom>
        </p:spPr>
        <p:txBody>
          <a:bodyPr anchorCtr="0" anchor="t" bIns="91425" lIns="91425" spcFirstLastPara="1" rIns="91425" wrap="square" tIns="91425">
            <a:normAutofit lnSpcReduction="10000"/>
          </a:bodyPr>
          <a:lstStyle/>
          <a:p>
            <a:pPr indent="0" lvl="0" marL="0" marR="0" rtl="0" algn="l">
              <a:lnSpc>
                <a:spcPct val="115000"/>
              </a:lnSpc>
              <a:spcBef>
                <a:spcPts val="0"/>
              </a:spcBef>
              <a:spcAft>
                <a:spcPts val="0"/>
              </a:spcAft>
              <a:buNone/>
            </a:pPr>
            <a:r>
              <a:rPr lang="en" sz="1200">
                <a:solidFill>
                  <a:schemeClr val="dk1"/>
                </a:solidFill>
                <a:latin typeface="Roboto"/>
                <a:ea typeface="Roboto"/>
                <a:cs typeface="Roboto"/>
                <a:sym typeface="Roboto"/>
              </a:rPr>
              <a:t>The next step is to choose which credential helper to use. Git uses credential helpers to fetch or save credentials. The default option is the most stable one. </a:t>
            </a:r>
            <a:endParaRPr sz="1200">
              <a:solidFill>
                <a:schemeClr val="dk1"/>
              </a:solidFill>
              <a:latin typeface="Roboto"/>
              <a:ea typeface="Roboto"/>
              <a:cs typeface="Roboto"/>
              <a:sym typeface="Roboto"/>
            </a:endParaRPr>
          </a:p>
          <a:p>
            <a:pPr indent="0" lvl="0" marL="0" marR="0" rtl="0" algn="l">
              <a:lnSpc>
                <a:spcPct val="115000"/>
              </a:lnSpc>
              <a:spcBef>
                <a:spcPts val="1200"/>
              </a:spcBef>
              <a:spcAft>
                <a:spcPts val="0"/>
              </a:spcAft>
              <a:buNone/>
            </a:pPr>
            <a:r>
              <a:rPr lang="en" sz="1200">
                <a:solidFill>
                  <a:schemeClr val="dk1"/>
                </a:solidFill>
                <a:latin typeface="Roboto"/>
                <a:ea typeface="Roboto"/>
                <a:cs typeface="Roboto"/>
                <a:sym typeface="Roboto"/>
              </a:rPr>
              <a:t>The </a:t>
            </a:r>
            <a:r>
              <a:rPr lang="en" sz="1200">
                <a:solidFill>
                  <a:schemeClr val="dk1"/>
                </a:solidFill>
                <a:uFill>
                  <a:noFill/>
                </a:uFill>
                <a:latin typeface="Roboto"/>
                <a:ea typeface="Roboto"/>
                <a:cs typeface="Roboto"/>
                <a:sym typeface="Roboto"/>
                <a:hlinkClick r:id="rId3">
                  <a:extLst>
                    <a:ext uri="{A12FA001-AC4F-418D-AE19-62706E023703}">
                      <ahyp:hlinkClr val="tx"/>
                    </a:ext>
                  </a:extLst>
                </a:hlinkClick>
              </a:rPr>
              <a:t>Git Credential Manager for Windows</a:t>
            </a:r>
            <a:r>
              <a:rPr lang="en" sz="1200">
                <a:solidFill>
                  <a:schemeClr val="dk1"/>
                </a:solidFill>
                <a:latin typeface="Roboto"/>
                <a:ea typeface="Roboto"/>
                <a:cs typeface="Roboto"/>
                <a:sym typeface="Roboto"/>
              </a:rPr>
              <a:t> (GCM) provides secure Git credential storage for Windows. It’s the successor to the </a:t>
            </a:r>
            <a:r>
              <a:rPr lang="en" sz="1200">
                <a:solidFill>
                  <a:schemeClr val="dk1"/>
                </a:solidFill>
                <a:uFill>
                  <a:noFill/>
                </a:uFill>
                <a:latin typeface="Roboto"/>
                <a:ea typeface="Roboto"/>
                <a:cs typeface="Roboto"/>
                <a:sym typeface="Roboto"/>
                <a:hlinkClick r:id="rId4">
                  <a:extLst>
                    <a:ext uri="{A12FA001-AC4F-418D-AE19-62706E023703}">
                      <ahyp:hlinkClr val="tx"/>
                    </a:ext>
                  </a:extLst>
                </a:hlinkClick>
              </a:rPr>
              <a:t>Windows Credential Store for Git</a:t>
            </a:r>
            <a:r>
              <a:rPr lang="en" sz="1200">
                <a:solidFill>
                  <a:schemeClr val="dk1"/>
                </a:solidFill>
                <a:latin typeface="Roboto"/>
                <a:ea typeface="Roboto"/>
                <a:cs typeface="Roboto"/>
                <a:sym typeface="Roboto"/>
              </a:rPr>
              <a:t> (git-credential-winstore), which is no longer maintained. Compared to Git’s built-in credential storage for Windows (</a:t>
            </a:r>
            <a:r>
              <a:rPr lang="en" sz="1200">
                <a:solidFill>
                  <a:schemeClr val="dk1"/>
                </a:solidFill>
                <a:uFill>
                  <a:noFill/>
                </a:uFill>
                <a:latin typeface="Roboto"/>
                <a:ea typeface="Roboto"/>
                <a:cs typeface="Roboto"/>
                <a:sym typeface="Roboto"/>
                <a:hlinkClick r:id="rId5">
                  <a:extLst>
                    <a:ext uri="{A12FA001-AC4F-418D-AE19-62706E023703}">
                      <ahyp:hlinkClr val="tx"/>
                    </a:ext>
                  </a:extLst>
                </a:hlinkClick>
              </a:rPr>
              <a:t>wincred</a:t>
            </a:r>
            <a:r>
              <a:rPr lang="en" sz="1200">
                <a:solidFill>
                  <a:schemeClr val="dk1"/>
                </a:solidFill>
                <a:latin typeface="Roboto"/>
                <a:ea typeface="Roboto"/>
                <a:cs typeface="Roboto"/>
                <a:sym typeface="Roboto"/>
              </a:rPr>
              <a:t>), which provides single-factor authentication support working on any HTTP enabled Git repository, GCM provides multi-factor authentication support for </a:t>
            </a:r>
            <a:r>
              <a:rPr lang="en" sz="1200">
                <a:solidFill>
                  <a:schemeClr val="dk1"/>
                </a:solidFill>
                <a:uFill>
                  <a:noFill/>
                </a:uFill>
                <a:latin typeface="Roboto"/>
                <a:ea typeface="Roboto"/>
                <a:cs typeface="Roboto"/>
                <a:sym typeface="Roboto"/>
                <a:hlinkClick r:id="rId6">
                  <a:extLst>
                    <a:ext uri="{A12FA001-AC4F-418D-AE19-62706E023703}">
                      <ahyp:hlinkClr val="tx"/>
                    </a:ext>
                  </a:extLst>
                </a:hlinkClick>
              </a:rPr>
              <a:t>Azure DevOps</a:t>
            </a:r>
            <a:r>
              <a:rPr lang="en" sz="1200">
                <a:solidFill>
                  <a:schemeClr val="dk1"/>
                </a:solidFill>
                <a:latin typeface="Roboto"/>
                <a:ea typeface="Roboto"/>
                <a:cs typeface="Roboto"/>
                <a:sym typeface="Roboto"/>
              </a:rPr>
              <a:t>, </a:t>
            </a:r>
            <a:r>
              <a:rPr lang="en" sz="1200">
                <a:solidFill>
                  <a:schemeClr val="dk1"/>
                </a:solidFill>
                <a:uFill>
                  <a:noFill/>
                </a:uFill>
                <a:latin typeface="Roboto"/>
                <a:ea typeface="Roboto"/>
                <a:cs typeface="Roboto"/>
                <a:sym typeface="Roboto"/>
                <a:hlinkClick r:id="rId7">
                  <a:extLst>
                    <a:ext uri="{A12FA001-AC4F-418D-AE19-62706E023703}">
                      <ahyp:hlinkClr val="tx"/>
                    </a:ext>
                  </a:extLst>
                </a:hlinkClick>
              </a:rPr>
              <a:t>Team Foundation Server</a:t>
            </a:r>
            <a:r>
              <a:rPr lang="en" sz="1200">
                <a:solidFill>
                  <a:schemeClr val="dk1"/>
                </a:solidFill>
                <a:latin typeface="Roboto"/>
                <a:ea typeface="Roboto"/>
                <a:cs typeface="Roboto"/>
                <a:sym typeface="Roboto"/>
              </a:rPr>
              <a:t>, GitHub, and Bitbucket.</a:t>
            </a:r>
            <a:endParaRPr sz="1200">
              <a:solidFill>
                <a:schemeClr val="dk1"/>
              </a:solidFill>
              <a:latin typeface="Roboto"/>
              <a:ea typeface="Roboto"/>
              <a:cs typeface="Roboto"/>
              <a:sym typeface="Roboto"/>
            </a:endParaRPr>
          </a:p>
          <a:p>
            <a:pPr indent="0" lvl="0" marL="0" marR="0" rtl="0" algn="l">
              <a:lnSpc>
                <a:spcPct val="115000"/>
              </a:lnSpc>
              <a:spcBef>
                <a:spcPts val="1200"/>
              </a:spcBef>
              <a:spcAft>
                <a:spcPts val="1200"/>
              </a:spcAft>
              <a:buNone/>
            </a:pPr>
            <a:r>
              <a:t/>
            </a:r>
            <a:endParaRPr sz="1200">
              <a:solidFill>
                <a:schemeClr val="dk1"/>
              </a:solidFill>
              <a:latin typeface="Roboto"/>
              <a:ea typeface="Roboto"/>
              <a:cs typeface="Roboto"/>
              <a:sym typeface="Roboto"/>
            </a:endParaRPr>
          </a:p>
        </p:txBody>
      </p:sp>
      <p:pic>
        <p:nvPicPr>
          <p:cNvPr id="146" name="Google Shape;146;p26"/>
          <p:cNvPicPr preferRelativeResize="0"/>
          <p:nvPr/>
        </p:nvPicPr>
        <p:blipFill>
          <a:blip r:embed="rId8">
            <a:alphaModFix/>
          </a:blip>
          <a:stretch>
            <a:fillRect/>
          </a:stretch>
        </p:blipFill>
        <p:spPr>
          <a:xfrm>
            <a:off x="4355250" y="1152475"/>
            <a:ext cx="4743174" cy="3708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Configuring extra options</a:t>
            </a:r>
            <a:endParaRPr/>
          </a:p>
        </p:txBody>
      </p:sp>
      <p:sp>
        <p:nvSpPr>
          <p:cNvPr id="152" name="Google Shape;152;p27"/>
          <p:cNvSpPr txBox="1"/>
          <p:nvPr>
            <p:ph idx="1" type="body"/>
          </p:nvPr>
        </p:nvSpPr>
        <p:spPr>
          <a:xfrm>
            <a:off x="311700" y="1152475"/>
            <a:ext cx="3804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The next step lets you decide which extra options to enable. If you use </a:t>
            </a:r>
            <a:r>
              <a:rPr b="1" lang="en" sz="1200">
                <a:solidFill>
                  <a:srgbClr val="0A1D33"/>
                </a:solidFill>
                <a:uFill>
                  <a:noFill/>
                </a:uFill>
                <a:latin typeface="Roboto"/>
                <a:ea typeface="Roboto"/>
                <a:cs typeface="Roboto"/>
                <a:sym typeface="Roboto"/>
                <a:hlinkClick r:id="rId3">
                  <a:extLst>
                    <a:ext uri="{A12FA001-AC4F-418D-AE19-62706E023703}">
                      <ahyp:hlinkClr val="tx"/>
                    </a:ext>
                  </a:extLst>
                </a:hlinkClick>
              </a:rPr>
              <a:t>symbolic links</a:t>
            </a:r>
            <a:r>
              <a:rPr lang="en" sz="1200">
                <a:solidFill>
                  <a:schemeClr val="dk1"/>
                </a:solidFill>
                <a:latin typeface="Roboto"/>
                <a:ea typeface="Roboto"/>
                <a:cs typeface="Roboto"/>
                <a:sym typeface="Roboto"/>
              </a:rPr>
              <a:t>, which represent shortcuts for the command line, tick the box. Keep </a:t>
            </a:r>
            <a:r>
              <a:rPr b="1" lang="en" sz="1200">
                <a:solidFill>
                  <a:srgbClr val="0A1D33"/>
                </a:solidFill>
                <a:uFill>
                  <a:noFill/>
                </a:uFill>
                <a:latin typeface="Roboto"/>
                <a:ea typeface="Roboto"/>
                <a:cs typeface="Roboto"/>
                <a:sym typeface="Roboto"/>
                <a:hlinkClick r:id="rId4">
                  <a:extLst>
                    <a:ext uri="{A12FA001-AC4F-418D-AE19-62706E023703}">
                      <ahyp:hlinkClr val="tx"/>
                    </a:ext>
                  </a:extLst>
                </a:hlinkClick>
              </a:rPr>
              <a:t>file system</a:t>
            </a:r>
            <a:r>
              <a:rPr lang="en" sz="1200">
                <a:solidFill>
                  <a:schemeClr val="dk1"/>
                </a:solidFill>
                <a:latin typeface="Roboto"/>
                <a:ea typeface="Roboto"/>
                <a:cs typeface="Roboto"/>
                <a:sym typeface="Roboto"/>
              </a:rPr>
              <a:t> caching checked and click Next</a:t>
            </a:r>
            <a:endParaRPr sz="1200">
              <a:solidFill>
                <a:schemeClr val="dk1"/>
              </a:solidFill>
              <a:latin typeface="Roboto"/>
              <a:ea typeface="Roboto"/>
              <a:cs typeface="Roboto"/>
              <a:sym typeface="Roboto"/>
            </a:endParaRPr>
          </a:p>
          <a:p>
            <a:pPr indent="0" lvl="0" marL="0" rtl="0" algn="l">
              <a:spcBef>
                <a:spcPts val="1200"/>
              </a:spcBef>
              <a:spcAft>
                <a:spcPts val="0"/>
              </a:spcAft>
              <a:buNone/>
            </a:pPr>
            <a:r>
              <a:t/>
            </a:r>
            <a:endParaRPr sz="1200">
              <a:solidFill>
                <a:schemeClr val="dk1"/>
              </a:solidFill>
              <a:latin typeface="Roboto"/>
              <a:ea typeface="Roboto"/>
              <a:cs typeface="Roboto"/>
              <a:sym typeface="Roboto"/>
            </a:endParaRPr>
          </a:p>
          <a:p>
            <a:pPr indent="0" lvl="0" marL="0" rtl="0" algn="l">
              <a:spcBef>
                <a:spcPts val="1200"/>
              </a:spcBef>
              <a:spcAft>
                <a:spcPts val="1200"/>
              </a:spcAft>
              <a:buNone/>
            </a:pPr>
            <a:r>
              <a:t/>
            </a:r>
            <a:endParaRPr sz="1200">
              <a:solidFill>
                <a:schemeClr val="dk1"/>
              </a:solidFill>
              <a:latin typeface="Roboto"/>
              <a:ea typeface="Roboto"/>
              <a:cs typeface="Roboto"/>
              <a:sym typeface="Roboto"/>
            </a:endParaRPr>
          </a:p>
        </p:txBody>
      </p:sp>
      <p:pic>
        <p:nvPicPr>
          <p:cNvPr id="153" name="Google Shape;153;p27"/>
          <p:cNvPicPr preferRelativeResize="0"/>
          <p:nvPr/>
        </p:nvPicPr>
        <p:blipFill>
          <a:blip r:embed="rId5">
            <a:alphaModFix/>
          </a:blip>
          <a:stretch>
            <a:fillRect/>
          </a:stretch>
        </p:blipFill>
        <p:spPr>
          <a:xfrm>
            <a:off x="4343250" y="1152475"/>
            <a:ext cx="4439700" cy="3505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Configuring experimental options</a:t>
            </a:r>
            <a:endParaRPr/>
          </a:p>
        </p:txBody>
      </p:sp>
      <p:sp>
        <p:nvSpPr>
          <p:cNvPr id="159" name="Google Shape;159;p28"/>
          <p:cNvSpPr txBox="1"/>
          <p:nvPr>
            <p:ph idx="1" type="body"/>
          </p:nvPr>
        </p:nvSpPr>
        <p:spPr>
          <a:xfrm>
            <a:off x="311700" y="1152475"/>
            <a:ext cx="3592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200">
                <a:solidFill>
                  <a:schemeClr val="dk1"/>
                </a:solidFill>
                <a:latin typeface="Roboto"/>
                <a:ea typeface="Roboto"/>
                <a:cs typeface="Roboto"/>
                <a:sym typeface="Roboto"/>
              </a:rPr>
              <a:t>Depending on which Git version you are installing, it may offer to install experimental features. At the time this article was written, the installer offered options to include support for pseudo controls and a built-in file system monitor. For the most stable operation, do not install experimental features and click Install.</a:t>
            </a:r>
            <a:endParaRPr/>
          </a:p>
        </p:txBody>
      </p:sp>
      <p:pic>
        <p:nvPicPr>
          <p:cNvPr id="160" name="Google Shape;160;p28"/>
          <p:cNvPicPr preferRelativeResize="0"/>
          <p:nvPr/>
        </p:nvPicPr>
        <p:blipFill>
          <a:blip r:embed="rId3">
            <a:alphaModFix/>
          </a:blip>
          <a:stretch>
            <a:fillRect/>
          </a:stretch>
        </p:blipFill>
        <p:spPr>
          <a:xfrm>
            <a:off x="4056900" y="1170125"/>
            <a:ext cx="4705350" cy="3695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Finishing</a:t>
            </a:r>
            <a:endParaRPr/>
          </a:p>
        </p:txBody>
      </p:sp>
      <p:sp>
        <p:nvSpPr>
          <p:cNvPr id="166" name="Google Shape;166;p29"/>
          <p:cNvSpPr txBox="1"/>
          <p:nvPr>
            <p:ph idx="1" type="body"/>
          </p:nvPr>
        </p:nvSpPr>
        <p:spPr>
          <a:xfrm>
            <a:off x="311700" y="1152475"/>
            <a:ext cx="3359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200">
                <a:solidFill>
                  <a:schemeClr val="dk1"/>
                </a:solidFill>
                <a:latin typeface="Roboto"/>
                <a:ea typeface="Roboto"/>
                <a:cs typeface="Roboto"/>
                <a:sym typeface="Roboto"/>
              </a:rPr>
              <a:t>Once the installation is complete, tick the boxes to view the Release Notes or launch Git Bash if you want to start using Git right away, and click Finish.</a:t>
            </a:r>
            <a:endParaRPr/>
          </a:p>
        </p:txBody>
      </p:sp>
      <p:pic>
        <p:nvPicPr>
          <p:cNvPr id="167" name="Google Shape;167;p29"/>
          <p:cNvPicPr preferRelativeResize="0"/>
          <p:nvPr/>
        </p:nvPicPr>
        <p:blipFill>
          <a:blip r:embed="rId3">
            <a:alphaModFix/>
          </a:blip>
          <a:stretch>
            <a:fillRect/>
          </a:stretch>
        </p:blipFill>
        <p:spPr>
          <a:xfrm>
            <a:off x="3887425" y="1152475"/>
            <a:ext cx="4705350" cy="3686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Installing git on mac</a:t>
            </a:r>
            <a:endParaRPr/>
          </a:p>
        </p:txBody>
      </p:sp>
      <p:sp>
        <p:nvSpPr>
          <p:cNvPr id="173" name="Google Shape;173;p30"/>
          <p:cNvSpPr txBox="1"/>
          <p:nvPr>
            <p:ph idx="1" type="body"/>
          </p:nvPr>
        </p:nvSpPr>
        <p:spPr>
          <a:xfrm>
            <a:off x="311700" y="1152475"/>
            <a:ext cx="88323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
                <a:solidFill>
                  <a:schemeClr val="dk1"/>
                </a:solidFill>
                <a:latin typeface="Roboto"/>
                <a:ea typeface="Roboto"/>
                <a:cs typeface="Roboto"/>
                <a:sym typeface="Roboto"/>
              </a:rPr>
              <a:t>Prerequisites</a:t>
            </a:r>
            <a:endParaRPr b="1">
              <a:solidFill>
                <a:schemeClr val="dk1"/>
              </a:solidFill>
              <a:latin typeface="Roboto"/>
              <a:ea typeface="Roboto"/>
              <a:cs typeface="Roboto"/>
              <a:sym typeface="Roboto"/>
            </a:endParaRPr>
          </a:p>
          <a:p>
            <a:pPr indent="-304800" lvl="0" marL="457200" rtl="0" algn="l">
              <a:spcBef>
                <a:spcPts val="1800"/>
              </a:spcBef>
              <a:spcAft>
                <a:spcPts val="0"/>
              </a:spcAft>
              <a:buClr>
                <a:schemeClr val="dk1"/>
              </a:buClr>
              <a:buSzPts val="1200"/>
              <a:buFont typeface="Roboto"/>
              <a:buChar char="●"/>
            </a:pPr>
            <a:r>
              <a:rPr lang="en" sz="1200">
                <a:solidFill>
                  <a:schemeClr val="dk1"/>
                </a:solidFill>
                <a:latin typeface="Roboto"/>
                <a:ea typeface="Roboto"/>
                <a:cs typeface="Roboto"/>
                <a:sym typeface="Roboto"/>
              </a:rPr>
              <a:t>A Mac machine.</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 user account with </a:t>
            </a:r>
            <a:r>
              <a:rPr b="1" lang="en" sz="1200">
                <a:solidFill>
                  <a:srgbClr val="0A1D33"/>
                </a:solidFill>
                <a:uFill>
                  <a:noFill/>
                </a:uFill>
                <a:latin typeface="Roboto"/>
                <a:ea typeface="Roboto"/>
                <a:cs typeface="Roboto"/>
                <a:sym typeface="Roboto"/>
                <a:hlinkClick r:id="rId3">
                  <a:extLst>
                    <a:ext uri="{A12FA001-AC4F-418D-AE19-62706E023703}">
                      <ahyp:hlinkClr val="tx"/>
                    </a:ext>
                  </a:extLst>
                </a:hlinkClick>
              </a:rPr>
              <a:t>root privileges</a:t>
            </a:r>
            <a:r>
              <a:rPr lang="en" sz="1200">
                <a:solidFill>
                  <a:schemeClr val="dk1"/>
                </a:solidFill>
                <a:latin typeface="Roboto"/>
                <a:ea typeface="Roboto"/>
                <a:cs typeface="Roboto"/>
                <a:sym typeface="Roboto"/>
              </a:rPr>
              <a:t>.</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Access to the terminal.</a:t>
            </a:r>
            <a:endParaRPr sz="1200">
              <a:solidFill>
                <a:schemeClr val="dk1"/>
              </a:solidFill>
              <a:latin typeface="Roboto"/>
              <a:ea typeface="Roboto"/>
              <a:cs typeface="Roboto"/>
              <a:sym typeface="Roboto"/>
            </a:endParaRPr>
          </a:p>
          <a:p>
            <a:pPr indent="0" lvl="0" marL="0" rtl="0" algn="l">
              <a:spcBef>
                <a:spcPts val="1500"/>
              </a:spcBef>
              <a:spcAft>
                <a:spcPts val="0"/>
              </a:spcAft>
              <a:buNone/>
            </a:pPr>
            <a:r>
              <a:rPr lang="en" sz="1200">
                <a:solidFill>
                  <a:schemeClr val="dk1"/>
                </a:solidFill>
                <a:latin typeface="Roboto"/>
                <a:ea typeface="Roboto"/>
                <a:cs typeface="Roboto"/>
                <a:sym typeface="Roboto"/>
              </a:rPr>
              <a:t>Installing GIT on MAC can be done through git installer (Open a </a:t>
            </a:r>
            <a:r>
              <a:rPr b="1" lang="en" sz="1200">
                <a:solidFill>
                  <a:srgbClr val="0A1D33"/>
                </a:solidFill>
                <a:uFill>
                  <a:noFill/>
                </a:uFill>
                <a:latin typeface="Roboto"/>
                <a:ea typeface="Roboto"/>
                <a:cs typeface="Roboto"/>
                <a:sym typeface="Roboto"/>
                <a:hlinkClick r:id="rId4">
                  <a:extLst>
                    <a:ext uri="{A12FA001-AC4F-418D-AE19-62706E023703}">
                      <ahyp:hlinkClr val="tx"/>
                    </a:ext>
                  </a:extLst>
                </a:hlinkClick>
              </a:rPr>
              <a:t>browser</a:t>
            </a:r>
            <a:r>
              <a:rPr lang="en" sz="1200">
                <a:solidFill>
                  <a:schemeClr val="dk1"/>
                </a:solidFill>
                <a:latin typeface="Roboto"/>
                <a:ea typeface="Roboto"/>
                <a:cs typeface="Roboto"/>
                <a:sym typeface="Roboto"/>
              </a:rPr>
              <a:t> and download the </a:t>
            </a:r>
            <a:r>
              <a:rPr b="1" lang="en" sz="1200">
                <a:solidFill>
                  <a:srgbClr val="0A1D33"/>
                </a:solidFill>
                <a:uFill>
                  <a:noFill/>
                </a:uFill>
                <a:latin typeface="Roboto"/>
                <a:ea typeface="Roboto"/>
                <a:cs typeface="Roboto"/>
                <a:sym typeface="Roboto"/>
                <a:hlinkClick r:id="rId5">
                  <a:extLst>
                    <a:ext uri="{A12FA001-AC4F-418D-AE19-62706E023703}">
                      <ahyp:hlinkClr val="tx"/>
                    </a:ext>
                  </a:extLst>
                </a:hlinkClick>
              </a:rPr>
              <a:t>Git installer</a:t>
            </a:r>
            <a:r>
              <a:rPr lang="en" sz="1200">
                <a:solidFill>
                  <a:schemeClr val="dk1"/>
                </a:solidFill>
                <a:latin typeface="Roboto"/>
                <a:ea typeface="Roboto"/>
                <a:cs typeface="Roboto"/>
                <a:sym typeface="Roboto"/>
              </a:rPr>
              <a:t> from Sourceforge) or homebrew (Recommended) or mac ports</a:t>
            </a:r>
            <a:endParaRPr sz="1200">
              <a:solidFill>
                <a:schemeClr val="dk1"/>
              </a:solidFill>
              <a:latin typeface="Roboto"/>
              <a:ea typeface="Roboto"/>
              <a:cs typeface="Roboto"/>
              <a:sym typeface="Roboto"/>
            </a:endParaRPr>
          </a:p>
          <a:p>
            <a:pPr indent="0" lvl="0" marL="0" rtl="0" algn="l">
              <a:lnSpc>
                <a:spcPct val="116666"/>
              </a:lnSpc>
              <a:spcBef>
                <a:spcPts val="1500"/>
              </a:spcBef>
              <a:spcAft>
                <a:spcPts val="0"/>
              </a:spcAft>
              <a:buNone/>
            </a:pPr>
            <a:r>
              <a:rPr b="1" lang="en">
                <a:solidFill>
                  <a:schemeClr val="dk1"/>
                </a:solidFill>
              </a:rPr>
              <a:t>Install Git on Mac Using Homebrew </a:t>
            </a:r>
            <a:endParaRPr b="1">
              <a:solidFill>
                <a:schemeClr val="dk1"/>
              </a:solidFill>
            </a:endParaRPr>
          </a:p>
          <a:p>
            <a:pPr indent="0" lvl="0" marL="0" rtl="0" algn="l">
              <a:spcBef>
                <a:spcPts val="900"/>
              </a:spcBef>
              <a:spcAft>
                <a:spcPts val="1200"/>
              </a:spcAft>
              <a:buNone/>
            </a:pPr>
            <a:r>
              <a:rPr lang="en" sz="1200">
                <a:solidFill>
                  <a:schemeClr val="dk1"/>
                </a:solidFill>
                <a:latin typeface="Roboto"/>
                <a:ea typeface="Roboto"/>
                <a:cs typeface="Roboto"/>
                <a:sym typeface="Roboto"/>
              </a:rPr>
              <a:t>To install homebrew run this code: curl -fsSL -o install.sh https://raw.githubusercontent.com/Homebrew/install/HEAD/install.sh</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6666"/>
              </a:lnSpc>
              <a:spcBef>
                <a:spcPts val="0"/>
              </a:spcBef>
              <a:spcAft>
                <a:spcPts val="900"/>
              </a:spcAft>
              <a:buClr>
                <a:schemeClr val="dk1"/>
              </a:buClr>
              <a:buSzPts val="1100"/>
              <a:buFont typeface="Arial"/>
              <a:buNone/>
            </a:pPr>
            <a:r>
              <a:rPr lang="en" sz="2500"/>
              <a:t>Install Git on Mac Using Homebrew</a:t>
            </a:r>
            <a:endParaRPr sz="2500"/>
          </a:p>
        </p:txBody>
      </p:sp>
      <p:sp>
        <p:nvSpPr>
          <p:cNvPr id="179" name="Google Shape;179;p31"/>
          <p:cNvSpPr txBox="1"/>
          <p:nvPr>
            <p:ph idx="1" type="body"/>
          </p:nvPr>
        </p:nvSpPr>
        <p:spPr>
          <a:xfrm>
            <a:off x="311700" y="1152475"/>
            <a:ext cx="8375700" cy="15981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200">
                <a:solidFill>
                  <a:schemeClr val="dk1"/>
                </a:solidFill>
                <a:latin typeface="Roboto"/>
                <a:ea typeface="Roboto"/>
                <a:cs typeface="Roboto"/>
                <a:sym typeface="Roboto"/>
              </a:rPr>
              <a:t>Use </a:t>
            </a:r>
            <a:r>
              <a:rPr b="1" lang="en" sz="1200">
                <a:solidFill>
                  <a:srgbClr val="0A1D33"/>
                </a:solidFill>
                <a:uFill>
                  <a:noFill/>
                </a:uFill>
                <a:latin typeface="Roboto"/>
                <a:ea typeface="Roboto"/>
                <a:cs typeface="Roboto"/>
                <a:sym typeface="Roboto"/>
                <a:hlinkClick r:id="rId3">
                  <a:extLst>
                    <a:ext uri="{A12FA001-AC4F-418D-AE19-62706E023703}">
                      <ahyp:hlinkClr val="tx"/>
                    </a:ext>
                  </a:extLst>
                </a:hlinkClick>
              </a:rPr>
              <a:t>Homebrew</a:t>
            </a:r>
            <a:r>
              <a:rPr lang="en" sz="1200">
                <a:solidFill>
                  <a:schemeClr val="dk1"/>
                </a:solidFill>
                <a:latin typeface="Roboto"/>
                <a:ea typeface="Roboto"/>
                <a:cs typeface="Roboto"/>
                <a:sym typeface="Roboto"/>
              </a:rPr>
              <a:t>, the package management system for macOS. Run the following </a:t>
            </a:r>
            <a:r>
              <a:rPr lang="en" sz="1200">
                <a:solidFill>
                  <a:srgbClr val="188038"/>
                </a:solidFill>
                <a:highlight>
                  <a:srgbClr val="F7F7F7"/>
                </a:highlight>
                <a:latin typeface="Courier New"/>
                <a:ea typeface="Courier New"/>
                <a:cs typeface="Courier New"/>
                <a:sym typeface="Courier New"/>
              </a:rPr>
              <a:t>brew</a:t>
            </a:r>
            <a:r>
              <a:rPr lang="en" sz="1200">
                <a:solidFill>
                  <a:schemeClr val="dk1"/>
                </a:solidFill>
                <a:latin typeface="Roboto"/>
                <a:ea typeface="Roboto"/>
                <a:cs typeface="Roboto"/>
                <a:sym typeface="Roboto"/>
              </a:rPr>
              <a:t> command in the terminal to install Git:</a:t>
            </a:r>
            <a:endParaRPr sz="1200">
              <a:solidFill>
                <a:schemeClr val="dk1"/>
              </a:solidFill>
              <a:latin typeface="Roboto"/>
              <a:ea typeface="Roboto"/>
              <a:cs typeface="Roboto"/>
              <a:sym typeface="Roboto"/>
            </a:endParaRPr>
          </a:p>
          <a:p>
            <a:pPr indent="0" lvl="0" marL="228600" marR="228600" rtl="0" algn="l">
              <a:spcBef>
                <a:spcPts val="1200"/>
              </a:spcBef>
              <a:spcAft>
                <a:spcPts val="0"/>
              </a:spcAft>
              <a:buClr>
                <a:schemeClr val="dk1"/>
              </a:buClr>
              <a:buSzPts val="1100"/>
              <a:buFont typeface="Arial"/>
              <a:buNone/>
            </a:pPr>
            <a:r>
              <a:rPr lang="en" sz="1200">
                <a:solidFill>
                  <a:schemeClr val="dk1"/>
                </a:solidFill>
                <a:highlight>
                  <a:srgbClr val="F7F7F7"/>
                </a:highlight>
                <a:latin typeface="Courier New"/>
                <a:ea typeface="Courier New"/>
                <a:cs typeface="Courier New"/>
                <a:sym typeface="Courier New"/>
              </a:rPr>
              <a:t>brew install git</a:t>
            </a:r>
            <a:endParaRPr sz="1200">
              <a:solidFill>
                <a:schemeClr val="dk1"/>
              </a:solidFill>
              <a:highlight>
                <a:srgbClr val="F7F7F7"/>
              </a:highlight>
              <a:latin typeface="Courier New"/>
              <a:ea typeface="Courier New"/>
              <a:cs typeface="Courier New"/>
              <a:sym typeface="Courier New"/>
            </a:endParaRPr>
          </a:p>
          <a:p>
            <a:pPr indent="0" lvl="0" marL="0" rtl="0" algn="l">
              <a:spcBef>
                <a:spcPts val="0"/>
              </a:spcBef>
              <a:spcAft>
                <a:spcPts val="1200"/>
              </a:spcAft>
              <a:buNone/>
            </a:pPr>
            <a:r>
              <a:t/>
            </a:r>
            <a:endParaRPr/>
          </a:p>
        </p:txBody>
      </p:sp>
      <p:pic>
        <p:nvPicPr>
          <p:cNvPr id="180" name="Google Shape;180;p31"/>
          <p:cNvPicPr preferRelativeResize="0"/>
          <p:nvPr/>
        </p:nvPicPr>
        <p:blipFill>
          <a:blip r:embed="rId4">
            <a:alphaModFix/>
          </a:blip>
          <a:stretch>
            <a:fillRect/>
          </a:stretch>
        </p:blipFill>
        <p:spPr>
          <a:xfrm>
            <a:off x="1059975" y="2084425"/>
            <a:ext cx="6779126" cy="30590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Finishing Installation</a:t>
            </a:r>
            <a:endParaRPr/>
          </a:p>
        </p:txBody>
      </p:sp>
      <p:pic>
        <p:nvPicPr>
          <p:cNvPr id="186" name="Google Shape;186;p32"/>
          <p:cNvPicPr preferRelativeResize="0"/>
          <p:nvPr/>
        </p:nvPicPr>
        <p:blipFill>
          <a:blip r:embed="rId3">
            <a:alphaModFix/>
          </a:blip>
          <a:stretch>
            <a:fillRect/>
          </a:stretch>
        </p:blipFill>
        <p:spPr>
          <a:xfrm>
            <a:off x="1452563" y="1152525"/>
            <a:ext cx="6238875" cy="2838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